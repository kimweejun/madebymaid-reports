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공고 수</c:v>
                </c:pt>
              </c:strCache>
            </c:strRef>
          </c:tx>
          <c:spPr>
            <a:solidFill>
              <a:srgbClr val="8E3427"/>
            </a:solidFill>
          </c:spPr>
          <c:cat>
            <c:strRef>
              <c:f>Sheet1!$A$2:$A$7</c:f>
              <c:strCache>
                <c:ptCount val="6"/>
                <c:pt idx="0">
                  <c:v>수집(제외 후)</c:v>
                </c:pt>
                <c:pt idx="1">
                  <c:v>제조·AI 관련</c:v>
                </c:pt>
                <c:pt idx="2">
                  <c:v>접수 중·예정</c:v>
                </c:pt>
                <c:pt idx="3">
                  <c:v>경북·대구·전국</c:v>
                </c:pt>
                <c:pt idx="4">
                  <c:v>원문 확인</c:v>
                </c:pt>
                <c:pt idx="5">
                  <c:v>바로 가능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2659</c:v>
                </c:pt>
                <c:pt idx="1">
                  <c:v>887</c:v>
                </c:pt>
                <c:pt idx="2">
                  <c:v>403</c:v>
                </c:pt>
                <c:pt idx="3">
                  <c:v>226</c:v>
                </c:pt>
                <c:pt idx="4">
                  <c:v>18</c:v>
                </c:pt>
                <c:pt idx="5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0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ED2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6DE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C685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C362F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dPt>
            <c:idx val="0"/>
            <c:spPr>
              <a:solidFill>
                <a:srgbClr val="8E3427"/>
              </a:solidFill>
            </c:spPr>
          </c:dPt>
          <c:dPt>
            <c:idx val="1"/>
            <c:spPr>
              <a:solidFill>
                <a:srgbClr val="D9971E"/>
              </a:solidFill>
            </c:spPr>
          </c:dPt>
          <c:dPt>
            <c:idx val="2"/>
            <c:spPr>
              <a:solidFill>
                <a:srgbClr val="93A097"/>
              </a:solidFill>
            </c:spPr>
          </c:dPt>
          <c:dPt>
            <c:idx val="3"/>
            <c:spPr>
              <a:solidFill>
                <a:srgbClr val="5C685F"/>
              </a:solidFill>
            </c:spPr>
          </c:dPt>
          <c:cat>
            <c:strRef>
              <c:f>Sheet1!$A$2:$A$5</c:f>
              <c:strCache>
                <c:ptCount val="4"/>
                <c:pt idx="0">
                  <c:v>가능</c:v>
                </c:pt>
                <c:pt idx="1">
                  <c:v>조건부</c:v>
                </c:pt>
                <c:pt idx="2">
                  <c:v>확인 필요</c:v>
                </c:pt>
                <c:pt idx="3">
                  <c:v>불가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01A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2C362F"/>
          </a:solidFill>
          <a:latin typeface="Noto Sans K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2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8500" y="1904999"/>
            <a:ext cx="761999" cy="38100"/>
          </a:xfrm>
          <a:prstGeom prst="rect">
            <a:avLst/>
          </a:prstGeom>
          <a:solidFill>
            <a:srgbClr val="D99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8500" y="2095499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D9971E"/>
                </a:solidFill>
                <a:latin typeface="Noto Sans KR"/>
              </a:rPr>
              <a:t>EXP-1015-06 · PPT로 분석하기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476499"/>
            <a:ext cx="10160000" cy="330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4400" b="1">
                <a:solidFill>
                  <a:srgbClr val="FFFFFF"/>
                </a:solidFill>
                <a:latin typeface="Noto Sans KR"/>
              </a:rPr>
              <a:t>A4AI 제조 진출 방안과 지금 잡을</a:t>
            </a:r>
            <a:br/>
            <a:r>
              <a:rPr sz="4400" b="1">
                <a:solidFill>
                  <a:srgbClr val="FFFFFF"/>
                </a:solidFill>
                <a:latin typeface="Noto Sans KR"/>
              </a:rPr>
              <a:t>지원사업</a:t>
            </a:r>
          </a:p>
          <a:p>
            <a:pPr>
              <a:lnSpc>
                <a:spcPct val="110000"/>
              </a:lnSpc>
              <a:spcAft>
                <a:spcPts val="2000"/>
              </a:spcAft>
            </a:pPr>
            <a:r>
              <a:rPr sz="1500" b="0">
                <a:solidFill>
                  <a:srgbClr val="D5DDD2"/>
                </a:solidFill>
                <a:latin typeface="Noto Sans KR"/>
              </a:rPr>
              <a:t>공장을 짓지 않고, 제조 현장에 AI를 공급하는 길로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6095999"/>
            <a:ext cx="101600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9AA59C"/>
                </a:solidFill>
                <a:latin typeface="Noto Sans KR"/>
              </a:rPr>
              <a:t>람 · 메이드바이메이드 지원사업 수집(2026.10.15 기준, 기관 51곳) · 기업마당·각 기관 공고문 원문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이 보고서의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공장을 짓지 않고, 제조 현장에 AI를 공급하는 길로 들어갑니다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14223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1460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구미가 제조 AX 거점이 되며 AI 공급기업의 자리가 생겼습니다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" y="18668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1904999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자격은 충분하고, 빈 곳은 '공급기업 등록'과 '파트너'입니다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311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2349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2,659건을 걸러 18건을 확인했고, 바로 가능한 공고는 4건입니다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27559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2794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막힌 공고는 대상이 달라서이고, 조건부는 두 열쇠로 열립니다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" y="3200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600" y="3238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첫 관문은 10월 마감 4건이며, 하나는 내일(10.16) 마감입니다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" y="36448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600" y="3683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'공급기업'과 '음성·온디바이스 특화'를 묶어 시작합니다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" y="40894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7600" y="4127499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10월에 문을 열고, 내년 4월까지 실적을 만든 뒤 넓힙니다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600" y="4533900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600" y="45720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관건은 파트너이며, 민간부담금 20~25%를 미리 잡아야 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" y="4978399"/>
            <a:ext cx="5715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000" b="1">
                <a:solidFill>
                  <a:srgbClr val="D9971E"/>
                </a:solidFill>
                <a:latin typeface="Noto Sans KR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7600" y="5016500"/>
            <a:ext cx="1016000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7201A"/>
                </a:solidFill>
                <a:latin typeface="Noto Sans KR"/>
              </a:rPr>
              <a:t>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구미가 제조 AX 거점이 되며 AI 공급기업의 자리가 생겼습니다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정부 정책·대기업 투자·부처 AX 사업이 한꺼번에 구미 제조 현장으로 모입니다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3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374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2026.7.3 정부, 구미를 로봇·반도체 소부장 제조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AX 거점으로 육성 발표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삼성 19조 원 투자: 휴머노이드 양산 라인·AI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스마트공장 전환·AI 데이터센터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구미 방산혁신클러스터(2023.4)·반도체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특화단지(2023.7) 지정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2026.3 중기부·과기정통부·산업부 AX 사업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통합공고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통합공고 속 제조 사업: 스마트공장, 산업 AI 실증,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AX-Sprint, AI 에이전트</a:t>
            </a:r>
          </a:p>
        </p:txBody>
      </p:sp>
      <p:pic>
        <p:nvPicPr>
          <p:cNvPr id="8" name="Picture 7" descr="d0-context.1028x5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1270000"/>
            <a:ext cx="65278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1599" y="4991100"/>
            <a:ext cx="6527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본 도식은 구미의 정책·투자·공고가 AI 공급기업의 자리로 이어지는 흐름입니다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" y="5334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4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제조사가 AI를 '사는' 사업이 늘수록, AI를 '공급하는' 회사의 자리가 커집니다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5943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쿠키뉴스(2026.7.6), 경북매일(2026.2.14), 머니투데이방송(2026.3.12)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6172200"/>
            <a:ext cx="11226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AX: AI 전환 · 소부장: 소재·부품·장비 · AX-Sprint: AI 응용제품 신속 상용화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자격은 충분하고, 빈 곳은 '공급기업 등록'과 '파트너'입니다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사용자가 확인한 회사 정보로 공고 18건의 신청 자격을 대조했습니다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4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갖춘 것: 구미 소재, 창업 3년 미만, 벤처 인증,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기업부설연구소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강점 기술: 한국어 음성 STT/TTS, 온디바이스 AI,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GPU 인프라, 에이전트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공장등록 없음 → 스마트공장 '수요기업' 자리는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처음부터 제외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공급기업 Pool 등록(확인 필요)이 있으면 조건부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3건이 열림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앵커 중견기업·대구 주관기관과 손잡으면 조건부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2건이 열림</a:t>
            </a:r>
          </a:p>
        </p:txBody>
      </p:sp>
      <p:pic>
        <p:nvPicPr>
          <p:cNvPr id="8" name="Picture 7" descr="d1-eligibility.1028x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1270000"/>
            <a:ext cx="6527800" cy="391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1599" y="5245100"/>
            <a:ext cx="6527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본 도식은 A4AI가 갖춘 자격으로 바로 열리는 공고와, 빈 곳을 채우면 열리는 공고를 잇는 관계입니다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제조로 가는 길은 공장을 짓는 것이 아니라, 공장에 AI를 공급하는 것입니다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각 공고문 신청 자격 원문(2026.10.15 확인) · 중기부 공고 제2025-587호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2,659건을 걸러 18건을 확인했고, 바로 가능한 공고는 4건입니다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메이드바이메이드가 모은 지원사업 공고(기관 51곳)를 다섯 단계로 걸렀습니다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5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입찰·채용·결과 발표 등 126건을 뺀 2,659건이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출발점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제목에 제조·로봇·AX·AI·데이터 등이 있는 공고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887건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접수 중·예정 403건, 그중 경북·대구·전국 공고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226건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A4AI와 맞닿는 18건은 첨부 공고문까지 열어 자격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확인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결과: 가능 4 · 조건부 5 · 확인 필요 3 · 불가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599" y="1270000"/>
            <a:ext cx="6527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7201A"/>
                </a:solidFill>
                <a:latin typeface="Noto Sans KR"/>
              </a:rPr>
              <a:t>공고 거르기 단계별 건수 (건)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81599" y="1562100"/>
          <a:ext cx="6527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1599" y="5283200"/>
            <a:ext cx="6527800" cy="177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메이드바이메이드 support.json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조건부 5건까지 열면, 올해 안에 도전할 공고는 9건이 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메이드바이메이드 지원사업 수집 자료(2026.10.15 20:45 갱신분)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막힌 공고는 대상이 달라서이고, 조건부는 두 열쇠로 열립니다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원문 확인 18건의 판정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6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가능 4: 기술지도·원스톱 에이전트·방산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컨설팅·AI데이터센터 실증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조건부 3: 스마트공장 공급기업 Pool 등록이 있어야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공급자로 참여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조건부 2: K-AI 경북형(앵커 중견기업), 지역거점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AX R&amp;D(대구 주관)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확인 필요 3: 경북AX랩 접수 상태, 애로기술 대상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범위, 안전장비 요건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불가 6: 대학생·외식업주·주관기관 대상, 선행 R&amp;D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필요 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599" y="1270000"/>
            <a:ext cx="6527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7201A"/>
                </a:solidFill>
                <a:latin typeface="Noto Sans KR"/>
              </a:rPr>
              <a:t>원문 확인 18건 판정 (건)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81599" y="1562100"/>
          <a:ext cx="6527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1599" y="5283200"/>
            <a:ext cx="6527800" cy="177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람 공고 자격표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공급기업 등록은 한 번 해 두면 스마트공장 계열 공고 전체에 다시 쓰입니다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공고문 원문 대조 결과(람, 2026.10.15) · 상세는 공고 자격표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첫 관문은 10월 마감 4건이며, 하나는 내일(10.16) 마감입니다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지금 신청 가능한 공고와 파트너가 필요한 조건부 공고를 마감 순으로 놓았습니다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7 / 11</a:t>
            </a:r>
          </a:p>
        </p:txBody>
      </p:sp>
      <p:pic>
        <p:nvPicPr>
          <p:cNvPr id="6" name="Picture 5" descr="d2-deadlines.1768x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70000"/>
            <a:ext cx="11226800" cy="391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2600" y="5245100"/>
            <a:ext cx="11226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본 도식은 A4AI가 신청할 공고 7건의 마감 일정과 판정입니다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K-AI 경북형은 지원금의 50% 이상을 AI 솔루션 비용에 써야 해, 공급기업 몫이 분명합니다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각 공고문(기업마당·구미전자정보기술원·경북경제진흥원·대구디지털혁신진흥원·포항테크노파크)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'공급기업'과 '음성·온디바이스 특화'를 묶어 시작합니다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지금 열린 공고, 필요한 것, A4AI 강점과의 연결로 비교했습니다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8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44450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44450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A 공급기업: 제조사의 AI 도입 사업에 솔루션을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납품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B 특화: 소음 현장 음성 작업지시·음성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비상정지·설비 음향 진단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음향 AI 스타트업이 효성전기 공장에 품질검사를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공급한 사례(2026.2)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음성인식 비상정지 장치는 안전보건공단 지원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품목에 이미 있음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C 방산 연계는 컨설팅으로 병행, D 자체 제조는 투자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부담으로 보류</a:t>
            </a:r>
          </a:p>
        </p:txBody>
      </p:sp>
      <p:pic>
        <p:nvPicPr>
          <p:cNvPr id="8" name="Picture 7" descr="d3-paths.1028x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1270000"/>
            <a:ext cx="6527800" cy="391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1599" y="5245100"/>
            <a:ext cx="6527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본 도식은 A4AI 제조 진출 경로 4가지를 열린 공고와 필요 조건으로 비교한 것입니다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A4AI의 차별점은 '시끄러운 공장에서도 알아듣는 한국어 음성 AI'입니다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머니투데이(2026.4.7) · NIPA 스마트 안전장비 제안품목 안내자료 · 각 공고문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10월에 문을 열고, 내년 4월까지 실적을 만든 뒤 넓힙니다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각 단계의 할 일을 공고 마감일에 맞췄습니다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9 / 11</a:t>
            </a:r>
          </a:p>
        </p:txBody>
      </p:sp>
      <p:pic>
        <p:nvPicPr>
          <p:cNvPr id="6" name="Picture 5" descr="d4-plan.1768x6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270000"/>
            <a:ext cx="11226800" cy="391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2600" y="5245100"/>
            <a:ext cx="112268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50" b="0">
                <a:solidFill>
                  <a:srgbClr val="5C685F"/>
                </a:solidFill>
                <a:latin typeface="Noto Sans KR"/>
              </a:rPr>
              <a:t>본 도식은 A4AI 제조 진출의 3단계 실행 계획입니다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2단계에서 만든 제조 레퍼런스가 3단계 대형 사업의 입장권이 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람 계획안 · 일정은 각 공고문 기준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관건은 파트너이며, 민간부담금 20~25%를 미리 잡아야 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공고문 조건에서 확인한 준비물과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2600" y="1270000"/>
            <a:ext cx="11226800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2600" y="1409699"/>
            <a:ext cx="112268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공통 서류: 사업자등록증, 중소기업 확인서, 재무제표, 고용보험 명부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앵커기업 미확보 → 원스톱 에이전트·경북TP에 매칭 요청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민간부담금: K-AI 20% 이상, 지역거점 R&amp;D 25% 이상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제조 실적 부족 → 기술지도·AX랩 실증으로 레퍼런스부터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방산 보안·데이터 반출 우려 → 온디바이스(현장 안 처리)로 대응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K-AI는 기업당 1개 과제만 → 앵커 후보 중 1곳에 집중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600" y="5588000"/>
            <a:ext cx="11226800" cy="533399"/>
          </a:xfrm>
          <a:prstGeom prst="roundRect">
            <a:avLst>
              <a:gd name="adj" fmla="val 14285"/>
            </a:avLst>
          </a:prstGeom>
          <a:solidFill>
            <a:srgbClr val="F3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588000"/>
            <a:ext cx="10795000" cy="5333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8E3427"/>
                </a:solidFill>
                <a:latin typeface="Noto Sans KR"/>
              </a:rPr>
              <a:t>핵심  </a:t>
            </a:r>
            <a:r>
              <a:rPr sz="1400" b="0">
                <a:solidFill>
                  <a:srgbClr val="17201A"/>
                </a:solidFill>
                <a:latin typeface="Noto Sans KR"/>
              </a:rPr>
              <a:t>이번 주 할 일은 신청서 1건과 앵커 후보 3곳에 연락하는 것입니다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6197600"/>
            <a:ext cx="11226800" cy="190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800" b="0">
                <a:solidFill>
                  <a:srgbClr val="7D897F"/>
                </a:solidFill>
                <a:latin typeface="Noto Sans KR"/>
              </a:rPr>
              <a:t>출처: K-AI 경북형 공고문, 지역거점 AX 혁신 기술개발 공고문(2026.10.13)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0999"/>
            <a:ext cx="112268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2500" b="1">
                <a:solidFill>
                  <a:srgbClr val="17201A"/>
                </a:solidFill>
                <a:latin typeface="Noto Sans KR"/>
              </a:rPr>
              <a:t>지금 공급기업으로 제조에 들어가고, 10월 마감 4건부터 신청합시다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850899"/>
            <a:ext cx="11226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C685F"/>
                </a:solidFill>
                <a:latin typeface="Noto Sans KR"/>
              </a:rPr>
              <a:t>판정: 추천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6553199"/>
            <a:ext cx="889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EXP-1015-06 · A4AI 제조 진출 방안과 지금 잡을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39400" y="6553199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750" b="0">
                <a:solidFill>
                  <a:srgbClr val="5C685F"/>
                </a:solidFill>
                <a:latin typeface="Noto Sans KR"/>
              </a:rPr>
              <a:t>11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600" y="1270000"/>
            <a:ext cx="1016000" cy="355599"/>
          </a:xfrm>
          <a:prstGeom prst="roundRect">
            <a:avLst>
              <a:gd name="adj" fmla="val 21428"/>
            </a:avLst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KR"/>
              </a:rPr>
              <a:t>추천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600" y="1816099"/>
            <a:ext cx="5549899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600" y="1955800"/>
            <a:ext cx="5549899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7201A"/>
                </a:solidFill>
                <a:latin typeface="Noto Sans KR"/>
              </a:rPr>
              <a:t>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374899"/>
            <a:ext cx="554989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구미가 제조 AX 거점이 되며 AI 공급 수요가 커지고 있음 (근거: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3번)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현재 자격으로 4건이 바로 가능하고, 등록·파트너로 5건이 더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열림 (근거: 4번, 5번, 6번)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공장 없이도 공급기업 + 음성·온디바이스로 차별화할 수 있음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(근거: 8번)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단계별 계획이 공고 마감일과 맞물려 바로 실행 가능 (근거: 7번,</a:t>
            </a:r>
            <a:br/>
            <a:r>
              <a:rPr sz="1400" b="0">
                <a:solidFill>
                  <a:srgbClr val="2C362F"/>
                </a:solidFill>
                <a:latin typeface="Noto Sans KR"/>
              </a:rPr>
              <a:t>9번)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9500" y="1816099"/>
            <a:ext cx="5549899" cy="19050"/>
          </a:xfrm>
          <a:prstGeom prst="rect">
            <a:avLst/>
          </a:prstGeom>
          <a:solidFill>
            <a:srgbClr val="8E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9500" y="1955800"/>
            <a:ext cx="5549899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7201A"/>
                </a:solidFill>
                <a:latin typeface="Noto Sans KR"/>
              </a:rPr>
              <a:t>다음 할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9500" y="2374899"/>
            <a:ext cx="5549899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A4AI: 10.16 온디바이스 기술지도 신청서 제출 (내일 마감)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A4AI: 이번 주 K-AI 앵커 후보 접촉 · 공급기업 Pool 등록 문의</a:t>
            </a:r>
          </a:p>
          <a:p>
            <a:pPr marL="165100" indent="-165100">
              <a:lnSpc>
                <a:spcPct val="140000"/>
              </a:lnSpc>
              <a:spcAft>
                <a:spcPts val="700"/>
              </a:spcAft>
            </a:pPr>
            <a:r>
              <a:rPr sz="800" b="0">
                <a:solidFill>
                  <a:srgbClr val="8E3427"/>
                </a:solidFill>
                <a:latin typeface="Noto Sans KR"/>
              </a:rPr>
              <a:t>■   </a:t>
            </a:r>
            <a:r>
              <a:rPr sz="1400" b="0">
                <a:solidFill>
                  <a:srgbClr val="2C362F"/>
                </a:solidFill>
                <a:latin typeface="Noto Sans KR"/>
              </a:rPr>
              <a:t>렘·람: 공고 자격표를 매주 갱신해 새 제조 공고 알림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