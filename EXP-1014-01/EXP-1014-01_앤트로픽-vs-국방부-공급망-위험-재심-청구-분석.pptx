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판사 수</c:v>
                </c:pt>
              </c:strCache>
            </c:strRef>
          </c:tx>
          <c:dPt>
            <c:idx val="0"/>
            <c:spPr>
              <a:solidFill>
                <a:srgbClr val="3F5A3A"/>
              </a:solidFill>
            </c:spPr>
          </c:dPt>
          <c:dPt>
            <c:idx val="1"/>
            <c:spPr>
              <a:solidFill>
                <a:srgbClr val="D9971E"/>
              </a:solidFill>
            </c:spPr>
          </c:dPt>
          <c:cat>
            <c:strRef>
              <c:f>Sheet1!$A$2:$A$3</c:f>
              <c:strCache>
                <c:ptCount val="2"/>
                <c:pt idx="0">
                  <c:v>지정 적법</c:v>
                </c:pt>
                <c:pt idx="1">
                  <c:v>반대 의견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01A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2C362F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7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8500" y="1904999"/>
            <a:ext cx="761999" cy="38100"/>
          </a:xfrm>
          <a:prstGeom prst="rect">
            <a:avLst/>
          </a:prstGeom>
          <a:solidFill>
            <a:srgbClr val="D99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8500" y="2095499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D9971E"/>
                </a:solidFill>
                <a:latin typeface="Noto Sans KR"/>
              </a:rPr>
              <a:t>EXP-1014-01 · PPT로 분석하기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476499"/>
            <a:ext cx="10160000" cy="330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4400" b="1">
                <a:solidFill>
                  <a:srgbClr val="FFFFFF"/>
                </a:solidFill>
                <a:latin typeface="Noto Sans KR"/>
              </a:rPr>
              <a:t>앤트로픽 vs 국방부 '공급망 위험'</a:t>
            </a:r>
            <a:br/>
            <a:r>
              <a:rPr sz="4400" b="1">
                <a:solidFill>
                  <a:srgbClr val="FFFFFF"/>
                </a:solidFill>
                <a:latin typeface="Noto Sans KR"/>
              </a:rPr>
              <a:t>재심 청구 분석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1500" b="0">
                <a:solidFill>
                  <a:srgbClr val="D5DDD2"/>
                </a:solidFill>
                <a:latin typeface="Noto Sans KR"/>
              </a:rPr>
              <a:t>AI 안전 원칙이 국방 조달의 위험이 될 수 있는가, 그리고 A4AI 국방 AI 사업에 주는 시사점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6095999"/>
            <a:ext cx="101600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9AA59C"/>
                </a:solidFill>
                <a:latin typeface="Noto Sans KR"/>
              </a:rPr>
              <a:t>람 · https://www.usnews.com/news/top-news/articles/2026-10-13/anthropic-seeks-rehearing-of-case-over-pentagons-security-risk-branding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이 보고서의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AI 안전 원칙이 국방 조달의 위험이 될 수 있는가, 그리고 A4AI 국방 AI 사업에 주는 시사점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국방부 '공급망 위험' 재심 청구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4223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1460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앤트로픽이 '공급망 위험' 판결을 전원 법관이 다시 봐 달라고 청구했습니다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8668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1904999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2억 달러 협력이 사용 제한 조건 다툼으로 1년 만에 소송이 됐습니다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11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2349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D.C. 항소법원 재판부는 2대 1로 국방부 지정을 인정했습니다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59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600" y="27940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쟁점은 '안전 원칙이 위험인가, 그 원칙에 대한 보복인가'입니다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200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600" y="3238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두 법원 판단이 엇갈려 최종 결론까지 시간이 더 걸릴 것으로 보입니다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6448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600" y="36830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국방 AI는 외부 상용 모델 하나에 기대지 않는 구조가 필요합니다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089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7600" y="4127499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해외 상용 LLM을 국방 과제에 쓰면 규제·계약 위험이 함께 따라옵니다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45339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7600" y="45720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앤트로픽이 '공급망 위험' 판결을 전원 법관이 다시 봐 달라고 청구했습니다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2026년 10월 13일, 워싱턴 D.C. 연방항소법원에 재심 청구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국방부 '공급망 위험' 재심 청구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374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국방부가 앤트로픽과 클로드를 '공급망 위험'으로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지정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9월 25일 항소법원 3인 재판부는 2대 1로 지정이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적법하다고 판단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앤트로픽은 전원합의체(en banc) 재심리를 요구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이 지정은 보통 적대국 기업에 쓰는 조치라 논란이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큼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방산 계약업체는 앤트로픽 기술 사용에 제약을 받음</a:t>
            </a:r>
          </a:p>
        </p:txBody>
      </p:sp>
      <p:pic>
        <p:nvPicPr>
          <p:cNvPr id="8" name="Picture 7" descr="article.jpg"/>
          <p:cNvPicPr>
            <a:picLocks noChangeAspect="1"/>
          </p:cNvPicPr>
          <p:nvPr/>
        </p:nvPicPr>
        <p:blipFill>
          <a:blip r:embed="rId2"/>
          <a:srcRect t="5128" b="5128"/>
          <a:stretch>
            <a:fillRect/>
          </a:stretch>
        </p:blipFill>
        <p:spPr>
          <a:xfrm>
            <a:off x="5181599" y="1270000"/>
            <a:ext cx="6527800" cy="3479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81599" y="4813300"/>
            <a:ext cx="6527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본 사진은 클로드 앱 화면과 미국 국방부(전쟁부) 휘장을 함께 보여 주는 모습입니다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599" y="5029200"/>
            <a:ext cx="6527800" cy="177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AI타임스 기사 사진 (셔터스톡)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600" y="5334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34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F5A3A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미국 AI 기업이 자국 국방부로부터 '공급망 위험' 딱지를 받은 첫 사례입니다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5943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US News(로이터) 2026-10-13 · AI타임스 2026-10-14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6172200"/>
            <a:ext cx="11226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전원합의체(en banc): 소수 재판부 판결을 해당 법원 판사 전원이 다시 심리하는 절차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2억 달러 협력이 사용 제한 조건 다툼으로 1년 만에 소송이 됐습니다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계약에서 지정, 그리고 두 갈래 소송까지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국방부 '공급망 위험' 재심 청구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374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2025년 7월: 국방부와 2억 달러(약 2,700억 원) 계약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2025년 9월: GenAI.mil에 클로드 배치 협상 중 갈등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2026년 3월: 국방부가 '공급망 위험'으로 지정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2026년 8월: 캘리포니아 지방법원, 앤트로픽 손 들어줌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2026년 9월 25일: D.C. 항소법원 2대 1로 국방부 손 들어줌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2026년 10월 13일: 앤트로픽, 전원합의체 재심 청구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600" y="5334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34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F5A3A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갈등의 출발점은 '기업이 AI 사용에 제한을 걸 수 있는가'였습니다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5943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AI타임스 2026-10-14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6172200"/>
            <a:ext cx="11226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GenAI.mil: 미국 국방부의 생성형 AI 플랫폼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D.C. 항소법원 재판부는 2대 1로 국방부 지정을 인정했습니다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다수 의견과 반대 의견의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국방부 '공급망 위험' 재심 청구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400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다수(카츠스 판사): 설계 변경으로 임무를 방해할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우려가 합리적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다수: 제한 때문에 정부 사용자 요청을 클로드가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거부한 적이 있음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반대(헨더슨 판사): 공개적 사용 제한은 법이 겨냥한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은밀한 조작이 아님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재판부는 재심·상고 기회를 주려고 판결 효력을 일시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정지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599" y="1270000"/>
            <a:ext cx="6527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7201A"/>
                </a:solidFill>
                <a:latin typeface="Noto Sans KR"/>
              </a:rPr>
              <a:t>D.C. 항소법원 3인 재판부 판단 (명)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81599" y="1562100"/>
          <a:ext cx="6527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81599" y="5283200"/>
            <a:ext cx="6527800" cy="177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AI타임스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600" y="5588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88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F5A3A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한 명의 반대 의견이 재심 청구의 핵심 근거가 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6197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AI타임스 · Courthouse News · Taft Law (2026-09)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쟁점은 '안전 원칙이 위험인가, 그 원칙에 대한 보복인가'입니다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같은 사실을 두고 양측 해석이 정반대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국방부 '공급망 위험' 재심 청구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400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앤트로픽: 대량 감시·자율 살상 무기 금지 원칙을 밝혀 보복당함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앤트로픽: 사전 절차 없이 지정했고 법률도 잘못 해석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국방부: 기업이 기술 사용에 제한을 두는 것은 받아들일 수 없음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캘리포니아 린 판사: 안보보다 보복에서 나왔을 가능성 인정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600" y="5588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588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F5A3A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AI 공급사의 사용 정책이 국방 조달의 평가 항목이 되었습니다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6197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AI타임스 2026-10-14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두 법원 판단이 엇갈려 최종 결론까지 시간이 더 걸릴 것으로 보입니다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전원합의체 수용 여부, 그다음은 대법원 (추정)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국방부 '공급망 위험' 재심 청구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374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캘리포니아: 다른 법 조항 근거로 지정 집행 금지 명령(8월 27일)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D.C.: 다른 조항 근거의 지정은 적법(9월 25일)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전원합의체 수용 여부·일정은 아직 발표되지 않음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어느 쪽이 지든 대법원 상고 가능성이 큼 (추정)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600" y="5334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34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F5A3A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판결 확정 전까지 미국 방산 공급망의 AI 선택은 불확실합니다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5943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Taft Law · Miller &amp; Chevalier · AI타임스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" y="6172200"/>
            <a:ext cx="11226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공급망 위험 지정: 국방 조달에서 특정 업체 제품을 배제할 수 있게 하는 조치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국방 AI는 외부 상용 모델 하나에 기대지 않는 구조가 필요합니다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A4AI 국방 AI·드론, GPU·온디바이스 사업에 주는 시사점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국방부 '공급망 위험' 재심 청구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422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공급사 정책·정부 지정 하나로 모델 사용이 막힐 수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있음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국방·드론 과제는 온디바이스·자체 운영 모델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경로를 함께 준비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모델 교체가 쉬운 에이전트 구조(모델 추상화)로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설계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한국어 STT/TTS 등 핵심 기능은 국산·자체 모델로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확보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제안서에 사용 범위·윤리 원칙을 미리 명시해 분쟁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예방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1599" y="1270000"/>
            <a:ext cx="6527800" cy="4140200"/>
          </a:xfrm>
          <a:prstGeom prst="roundRect">
            <a:avLst>
              <a:gd name="adj" fmla="val 1840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35599" y="1523999"/>
            <a:ext cx="60198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3F5A3A"/>
                </a:solidFill>
                <a:latin typeface="Noto Sans KR"/>
              </a:rPr>
              <a:t>이미지 생성 대기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5599" y="1904999"/>
            <a:ext cx="6019800" cy="3187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C685F"/>
                </a:solidFill>
                <a:latin typeface="Noto Sans KR"/>
              </a:rPr>
              <a:t>국방 현장 드론 관제 화면에서 외부 클라우드 AI 연결이 끊기고 장비 안 온디바이스 AI로 전환되는</a:t>
            </a:r>
            <a:br/>
            <a:r>
              <a:rPr sz="1000" b="0">
                <a:solidFill>
                  <a:srgbClr val="5C685F"/>
                </a:solidFill>
                <a:latin typeface="Noto Sans KR"/>
              </a:rPr>
              <a:t>개념도, 흰 바탕, 올리브·앰버 색, 단순한 선 아이콘, 사람 얼굴 없이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599" y="5473700"/>
            <a:ext cx="6527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개념 이미지 (AI 생성) · 본 그림은 외부 AI 연결이 막혀도 온디바이스 AI로 이어지는 구조를 보여 주는 개념도입니다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" y="58166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166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F5A3A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모델을 바꿔 끼울 수 있는 설계가 국방 사업의 보험입니다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해외 상용 LLM을 국방 과제에 쓰면 규제·계약 위험이 함께 따라옵니다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비용과 위험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국방부 '공급망 위험' 재심 청구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422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지정 시 방산 계약업체 전체가 사용 제약 (미국 사례)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국내 국방 사업도 해외 API 의존이 보안 심사 쟁점이 될 수 있음 (추정)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공급사 사용 정책 변경 시 기능 거부·중단 위험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대체 모델 준비에는 GPU·튜닝 비용과 시간이 추가로 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600" y="58166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166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F5A3A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위험은 기술이 아니라 계약·정책에서 먼저 터집니다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국방 과제의 해외 상용 LLM 단독 의존은 판결 확정 전까지 보류합니다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판정: 보류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국방부 '공급망 위험' 재심 청구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600" y="1270000"/>
            <a:ext cx="1016000" cy="355599"/>
          </a:xfrm>
          <a:prstGeom prst="roundRect">
            <a:avLst>
              <a:gd name="adj" fmla="val 21428"/>
            </a:avLst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보류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482600" y="1816099"/>
            <a:ext cx="5549899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600" y="1955800"/>
            <a:ext cx="5549899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17201A"/>
                </a:solidFill>
                <a:latin typeface="Noto Sans KR"/>
              </a:rPr>
              <a:t>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374899"/>
            <a:ext cx="554989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정부 지정 하나로 방산 공급망에서 모델 사용이 막힌 실제 사례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(근거: 3번, 4번)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법원 판단이 2대 1·지역별로 엇갈려 결론이 불확실 (근거: 5번,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7번)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공급사 사용 정책이 국방 운용과 충돌할 수 있음 (근거: 6번, 9번)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9500" y="1816099"/>
            <a:ext cx="5549899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500" y="1955800"/>
            <a:ext cx="5549899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17201A"/>
                </a:solidFill>
                <a:latin typeface="Noto Sans KR"/>
              </a:rPr>
              <a:t>다음 할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9500" y="2374899"/>
            <a:ext cx="554989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국방 AI·드론 과제: 온디바이스·자체 모델 대체 경로 설계안 작성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에이전트 개발: 모델 교체 가능한 구조로 표준화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전원합의체 수용 여부 결과 나오면 후속 실험으로 갱신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