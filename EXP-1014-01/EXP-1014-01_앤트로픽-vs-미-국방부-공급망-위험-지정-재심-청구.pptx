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판사 수</c:v>
                </c:pt>
              </c:strCache>
            </c:strRef>
          </c:tx>
          <c:dPt>
            <c:idx val="0"/>
            <c:spPr>
              <a:solidFill>
                <a:srgbClr val="3F5A3A"/>
              </a:solidFill>
            </c:spPr>
          </c:dPt>
          <c:dPt>
            <c:idx val="1"/>
            <c:spPr>
              <a:solidFill>
                <a:srgbClr val="D9971E"/>
              </a:solidFill>
            </c:spPr>
          </c:dPt>
          <c:cat>
            <c:strRef>
              <c:f>Sheet1!$A$2:$A$3</c:f>
              <c:strCache>
                <c:ptCount val="2"/>
                <c:pt idx="0">
                  <c:v>지정 적법 (국방부)</c:v>
                </c:pt>
                <c:pt idx="1">
                  <c:v>반대 의견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7201A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2C362F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7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8500" y="1904999"/>
            <a:ext cx="761999" cy="38100"/>
          </a:xfrm>
          <a:prstGeom prst="rect">
            <a:avLst/>
          </a:prstGeom>
          <a:solidFill>
            <a:srgbClr val="D99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8500" y="2095499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D9971E"/>
                </a:solidFill>
                <a:latin typeface="Noto Sans KR"/>
              </a:rPr>
              <a:t>EXP-1014-01 · PPT로 분석하기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2476499"/>
            <a:ext cx="10160000" cy="330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sz="4400" b="1">
                <a:solidFill>
                  <a:srgbClr val="FFFFFF"/>
                </a:solidFill>
                <a:latin typeface="Noto Sans KR"/>
              </a:rPr>
              <a:t>앤트로픽 vs 미 국방부, 공급망 위험</a:t>
            </a:r>
            <a:br/>
            <a:r>
              <a:rPr sz="4400" b="1">
                <a:solidFill>
                  <a:srgbClr val="FFFFFF"/>
                </a:solidFill>
                <a:latin typeface="Noto Sans KR"/>
              </a:rPr>
              <a:t>지정 재심 청구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sz="1500" b="0">
                <a:solidFill>
                  <a:srgbClr val="D5DDD2"/>
                </a:solidFill>
                <a:latin typeface="Noto Sans KR"/>
              </a:rPr>
              <a:t>AI 안전 조건이 국방 계약의 위험이 된 사례, A4AI는 무엇을 점검해야 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6095999"/>
            <a:ext cx="101600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9AA59C"/>
                </a:solidFill>
                <a:latin typeface="Noto Sans KR"/>
              </a:rPr>
              <a:t>람 · https://www.usnews.com/news/top-news/articles/2026-10-13/anthropic-seeks-rehearing-of-case-over-pentagons-security-risk-branding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이 보고서의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AI 안전 조건이 국방 계약의 위험이 된 사례, A4AI는 무엇을 점검해야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EXP-1014-01 · 앤트로픽 vs 미 국방부, 공급망 위험 지정 재심 청구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2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422399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14605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앤트로픽이 국방부 지정에 불복해 전원 재심을 청구했습니다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866899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1904999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AI 사용 조건 협상이 깨지면서 갈등이 시작됐습니다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3114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23495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계약에서 소송까지 1년여 동안 판단이 엇갈렸습니다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7559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600" y="27940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쟁점은 보복인가, 정당한 안보 우려인가입니다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2004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7600" y="32385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국방 AI를 하는 A4AI에도 같은 위험이 있습니다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3644899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600" y="36830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결과가 나오기 전까지 확인할 것이 남아 있습니다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0894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7600" y="4127499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앤트로픽이 국방부 지정에 불복해 전원 재심을 청구했습니다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2026년 10월 13일, 워싱턴 D.C. 연방항소법원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EXP-1014-01 · 앤트로픽 vs 미 국방부, 공급망 위험 지정 재심 청구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3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4445000" cy="19050"/>
          </a:xfrm>
          <a:prstGeom prst="rect">
            <a:avLst/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4445000" cy="422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국방부가 3월에 앤트로픽을 '공급망 위험'으로 지정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9월 25일 항소법원 3인 재판부가 2대 1로 국방부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손을 들어줌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앤트로픽은 법원 전체가 다시 심리해 달라고 청원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재심을 받아들일지, 언제 결정할지는 아직 알려지지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않음</a:t>
            </a:r>
          </a:p>
        </p:txBody>
      </p:sp>
      <p:pic>
        <p:nvPicPr>
          <p:cNvPr id="8" name="Picture 7" descr="article.jpg"/>
          <p:cNvPicPr>
            <a:picLocks noChangeAspect="1"/>
          </p:cNvPicPr>
          <p:nvPr/>
        </p:nvPicPr>
        <p:blipFill>
          <a:blip r:embed="rId2"/>
          <a:srcRect l="1071" r="1071"/>
          <a:stretch>
            <a:fillRect/>
          </a:stretch>
        </p:blipFill>
        <p:spPr>
          <a:xfrm>
            <a:off x="5181599" y="1270000"/>
            <a:ext cx="6527800" cy="39623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81599" y="5295899"/>
            <a:ext cx="6527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C685F"/>
                </a:solidFill>
                <a:latin typeface="Noto Sans KR"/>
              </a:rPr>
              <a:t>본 사진은 앤트로픽의 AI '클로드' 화면과 미국 전쟁부(국방부) 문장을 나란히 놓은 모습입니다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1599" y="5511800"/>
            <a:ext cx="6527800" cy="177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AI타임스 기사 대표 사진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600" y="58166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DC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166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F5A3A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1심 격인 3인 재판부 판단을 법원 전체가 다시 볼지가 다음 고비입니다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AI 사용 조건 협상이 깨지면서 갈등이 시작됐습니다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앤트로픽은 감시·자율 살상 무기 사용 제한을 요구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EXP-1014-01 · 앤트로픽 vs 미 국방부, 공급망 위험 지정 재심 청구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11226800" cy="19050"/>
          </a:xfrm>
          <a:prstGeom prst="rect">
            <a:avLst/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11226800" cy="4635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앤트로픽: 클로드를 미국인 대량 감시에 쓰지 않을 것 요구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사람 통제 없는 자율 살상 무기 운용 금지도 요구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국방부: 안보 목적 기술 사용에 기업이 제한을 거는 건 불가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'공급망 위험'은 보통 적대국 기업에 쓰던 조치라 논란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6223000"/>
            <a:ext cx="11226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C685F"/>
                </a:solidFill>
                <a:latin typeface="Noto Sans KR"/>
              </a:rPr>
              <a:t>공급망 위험 지정: 국가 안보에 위험한 공급업체로 지정해 정부·방산 계약에서 사용을 제한하는 조치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계약에서 소송까지 1년여 동안 판단이 엇갈렸습니다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두 법원의 결론이 서로 다름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EXP-1014-01 · 앤트로픽 vs 미 국방부, 공급망 위험 지정 재심 청구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11226800" cy="19050"/>
          </a:xfrm>
          <a:prstGeom prst="rect">
            <a:avLst/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11226800" cy="4889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2025.7 국방부와 2억 달러(약 2,700억 원) 계약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2025.9 국방부 AI 플랫폼(GenAI.mil) 배치 협상 결렬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2026.3 공급망 위험 지정 → 캘리포니아·D.C. 두 건 소송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2026.8 캘리포니아 지법: 보복 가능성 인정, 사용 금지 해제 (앤트로픽 승)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2026.9.25 D.C. 항소법원: 지정 적법 2대 1 (앤트로픽 패)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2026.10.13 전원 재심 청구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쟁점은 보복인가, 정당한 안보 우려인가입니다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양쪽 논리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EXP-1014-01 · 앤트로픽 vs 미 국방부, 공급망 위험 지정 재심 청구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4445000" cy="19050"/>
          </a:xfrm>
          <a:prstGeom prst="rect">
            <a:avLst/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4445000" cy="422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앤트로픽: AI 안전 원칙을 밝힌 회사에 대한 보복성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제재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앤트로픽: 사전 절차 없이 지정, 관련 법도 잘못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해석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국방부(다수 의견): 클로드 설계를 바꿔 안보 임무를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방해할 수 있다는 우려는 합리적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판단 근거는 '모델 공급자가 사용 조건을 바꿀 수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있다'는 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599" y="1270000"/>
            <a:ext cx="6527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7201A"/>
                </a:solidFill>
                <a:latin typeface="Noto Sans KR"/>
              </a:rPr>
              <a:t>D.C. 항소법원 3인 재판부 판단 (명)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181599" y="1562100"/>
          <a:ext cx="65278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181599" y="5511800"/>
            <a:ext cx="6527800" cy="177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AI타임스 2026-10-14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600" y="58166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DC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166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F5A3A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모델을 만든 회사가 사용 조건을 쥐고 있다는 것 자체가 국방에서는 위험으로 읽힐 수 있습니다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국방 AI를 하는 A4AI에도 같은 위험이 있습니다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A4AI 사업에 비춰 본 판단 (추정 포함)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EXP-1014-01 · 앤트로픽 vs 미 국방부, 공급망 위험 지정 재심 청구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7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4445000" cy="19050"/>
          </a:xfrm>
          <a:prstGeom prst="rect">
            <a:avLst/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4445000" cy="4889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국방 과제에 외부 상용 AI 모델을 쓰면 공급사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정책·지정이 곧 사업 위험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지정은 공급사뿐 아니라 그 기술을 쓰는 협력사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계약까지 영향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온디바이스·자체 모델처럼 통제권을 가진 구성의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가치가 커짐 (추정)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국내 국방 사업에 직접 영향이 있는지는 기사에서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확인되지 않음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1599" y="1270000"/>
            <a:ext cx="6527800" cy="4800600"/>
          </a:xfrm>
          <a:prstGeom prst="roundRect">
            <a:avLst>
              <a:gd name="adj" fmla="val 1587"/>
            </a:avLst>
          </a:prstGeom>
          <a:solidFill>
            <a:srgbClr val="DC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35599" y="1523999"/>
            <a:ext cx="60198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3F5A3A"/>
                </a:solidFill>
                <a:latin typeface="Noto Sans KR"/>
              </a:rPr>
              <a:t>이미지 생성 대기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5599" y="1904999"/>
            <a:ext cx="6019800" cy="3848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C685F"/>
                </a:solidFill>
                <a:latin typeface="Noto Sans KR"/>
              </a:rPr>
              <a:t>국방 현장에서 외부 클라우드 AI 모델과 장비 안에서 도는 온디바이스 AI를 나란히 비교하는 개념도. 흰</a:t>
            </a:r>
            <a:br/>
            <a:r>
              <a:rPr sz="1000" b="0">
                <a:solidFill>
                  <a:srgbClr val="5C685F"/>
                </a:solidFill>
                <a:latin typeface="Noto Sans KR"/>
              </a:rPr>
              <a:t>바탕, 올리브 녹색 강조, 사람 얼굴 없이 단순한 도형 위주.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1599" y="6134100"/>
            <a:ext cx="6527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C685F"/>
                </a:solidFill>
                <a:latin typeface="Noto Sans KR"/>
              </a:rPr>
              <a:t>개념 이미지 (AI 생성) · 본 그림은 외부 AI 모델 의존과 자체 모델 운용을 비교하는 개념도입니다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결과가 나오기 전까지 확인할 것이 남아 있습니다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주의할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EXP-1014-01 · 앤트로픽 vs 미 국방부, 공급망 위험 지정 재심 청구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8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11226800" cy="19050"/>
          </a:xfrm>
          <a:prstGeom prst="rect">
            <a:avLst/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11226800" cy="422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재심 수용 여부와 시기 미정 → 결론이 다시 바뀔 수 있음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캘리포니아 판결과 충돌 → 상급심 판단 가능성 (추정)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한국 방산 협력 사업에 미국 규정이 적용되는지 별도 확인 필요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기사 본문 기준 정리이며 원문 판결문은 확인하지 않음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600" y="58166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DC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166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3F5A3A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지금은 판단을 확정하기보다 우리 과제의 모델 의존도를 미리 정리해 둘 때입니다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재심 결과를 지켜보며 국방 과제의 외부 AI 모델 의존부터 점검합니다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판정: 보류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EXP-1014-01 · 앤트로픽 vs 미 국방부, 공급망 위험 지정 재심 청구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9 /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2600" y="1270000"/>
            <a:ext cx="1016000" cy="355599"/>
          </a:xfrm>
          <a:prstGeom prst="roundRect">
            <a:avLst>
              <a:gd name="adj" fmla="val 21428"/>
            </a:avLst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보류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482600" y="1816099"/>
            <a:ext cx="5549899" cy="19050"/>
          </a:xfrm>
          <a:prstGeom prst="rect">
            <a:avLst/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2600" y="1955800"/>
            <a:ext cx="5549899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17201A"/>
                </a:solidFill>
                <a:latin typeface="Noto Sans KR"/>
              </a:rPr>
              <a:t>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374899"/>
            <a:ext cx="5549899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법원 판단이 엇갈려 아직 결론이 확정되지 않음 (근거: 3번, 5번)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모델 공급자의 통제권이 국방 계약 위험으로 인정됨 (근거: 6번)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A4AI 국방 과제도 외부 모델을 쓰면 같은 위험 (근거: 7번)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9500" y="1816099"/>
            <a:ext cx="5549899" cy="19050"/>
          </a:xfrm>
          <a:prstGeom prst="rect">
            <a:avLst/>
          </a:prstGeom>
          <a:solidFill>
            <a:srgbClr val="3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9500" y="1955800"/>
            <a:ext cx="5549899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17201A"/>
                </a:solidFill>
                <a:latin typeface="Noto Sans KR"/>
              </a:rPr>
              <a:t>다음 할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9500" y="2374899"/>
            <a:ext cx="5549899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국방 과제에 쓰는 외부 AI 모델과 사용 약관 목록 정리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자체·온디바이스 모델 대안 검토 메모 작성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3F5A3A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재심 결정이 나오면 뉴스룸에서 다시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