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172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98500" y="1904999"/>
            <a:ext cx="761999" cy="38100"/>
          </a:xfrm>
          <a:prstGeom prst="rect">
            <a:avLst/>
          </a:prstGeom>
          <a:solidFill>
            <a:srgbClr val="D99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98500" y="2095499"/>
            <a:ext cx="9525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200" b="1">
                <a:solidFill>
                  <a:srgbClr val="D9971E"/>
                </a:solidFill>
                <a:latin typeface="Noto Sans KR"/>
              </a:rPr>
              <a:t>EXP-1014-01 · PPT로 분석하기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8500" y="2476499"/>
            <a:ext cx="10160000" cy="330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2000"/>
              </a:spcAft>
            </a:pPr>
            <a:r>
              <a:rPr sz="4400" b="1">
                <a:solidFill>
                  <a:srgbClr val="FFFFFF"/>
                </a:solidFill>
                <a:latin typeface="Noto Sans KR"/>
              </a:rPr>
              <a:t>앤트로픽 vs 미 국방부, 공급망 위험</a:t>
            </a:r>
            <a:br/>
            <a:r>
              <a:rPr sz="4400" b="1">
                <a:solidFill>
                  <a:srgbClr val="FFFFFF"/>
                </a:solidFill>
                <a:latin typeface="Noto Sans KR"/>
              </a:rPr>
              <a:t>지정 재심 청구</a:t>
            </a:r>
          </a:p>
          <a:p>
            <a:pPr>
              <a:lnSpc>
                <a:spcPct val="110000"/>
              </a:lnSpc>
              <a:spcAft>
                <a:spcPts val="2000"/>
              </a:spcAft>
            </a:pPr>
            <a:r>
              <a:rPr sz="1500" b="0">
                <a:solidFill>
                  <a:srgbClr val="D5DDD2"/>
                </a:solidFill>
                <a:latin typeface="Noto Sans KR"/>
              </a:rPr>
              <a:t>AI 안전 조건이 국방 계약의 위험이 된 사례, A4AI는 무엇을 점검해야 하나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8500" y="6095999"/>
            <a:ext cx="10160000" cy="1904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9AA59C"/>
                </a:solidFill>
                <a:latin typeface="Noto Sans KR"/>
              </a:rPr>
              <a:t>람 · https://www.usnews.com/news/top-news/articles/2026-10-13/anthropic-seeks-rehearing-of-case-over-pentagons-security-risk-branding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2600" y="380999"/>
            <a:ext cx="112268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2500" b="1">
                <a:solidFill>
                  <a:srgbClr val="17201A"/>
                </a:solidFill>
                <a:latin typeface="Noto Sans KR"/>
              </a:rPr>
              <a:t>이 보고서의 흐름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2600" y="850899"/>
            <a:ext cx="112268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150" b="0">
                <a:solidFill>
                  <a:srgbClr val="5C685F"/>
                </a:solidFill>
                <a:latin typeface="Noto Sans KR"/>
              </a:rPr>
              <a:t>AI 안전 조건이 국방 계약의 위험이 된 사례, A4AI는 무엇을 점검해야 하나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82600" y="6553199"/>
            <a:ext cx="8890000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750" b="0">
                <a:solidFill>
                  <a:srgbClr val="5C685F"/>
                </a:solidFill>
                <a:latin typeface="Noto Sans KR"/>
              </a:rPr>
              <a:t>EXP-1014-01 · 앤트로픽 vs 미 국방부, 공급망 위험 지정 재심 청구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39400" y="6553199"/>
            <a:ext cx="1270000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750" b="0">
                <a:solidFill>
                  <a:srgbClr val="5C685F"/>
                </a:solidFill>
                <a:latin typeface="Noto Sans KR"/>
              </a:rPr>
              <a:t>2 /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2600" y="1422399"/>
            <a:ext cx="571500" cy="380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2000" b="1">
                <a:solidFill>
                  <a:srgbClr val="D9971E"/>
                </a:solidFill>
                <a:latin typeface="Noto Sans KR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7600" y="1460500"/>
            <a:ext cx="10160000" cy="380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500" b="1">
                <a:solidFill>
                  <a:srgbClr val="17201A"/>
                </a:solidFill>
                <a:latin typeface="Noto Sans KR"/>
              </a:rPr>
              <a:t>앤트로픽이 국방부 지정에 불복해 전원 재심을 청구했습니다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2600" y="1866899"/>
            <a:ext cx="571500" cy="380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2000" b="1">
                <a:solidFill>
                  <a:srgbClr val="D9971E"/>
                </a:solidFill>
                <a:latin typeface="Noto Sans KR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7600" y="1904999"/>
            <a:ext cx="10160000" cy="380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500" b="1">
                <a:solidFill>
                  <a:srgbClr val="17201A"/>
                </a:solidFill>
                <a:latin typeface="Noto Sans KR"/>
              </a:rPr>
              <a:t>AI 사용 조건 협상이 깨지면서 갈등이 시작됐습니다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2600" y="2311400"/>
            <a:ext cx="571500" cy="380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2000" b="1">
                <a:solidFill>
                  <a:srgbClr val="D9971E"/>
                </a:solidFill>
                <a:latin typeface="Noto Sans KR"/>
              </a:rPr>
              <a:t>05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7600" y="2349500"/>
            <a:ext cx="10160000" cy="380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500" b="1">
                <a:solidFill>
                  <a:srgbClr val="17201A"/>
                </a:solidFill>
                <a:latin typeface="Noto Sans KR"/>
              </a:rPr>
              <a:t>계약에서 소송까지 1년여 동안 판단이 엇갈렸습니다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2600" y="2755900"/>
            <a:ext cx="571500" cy="380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2000" b="1">
                <a:solidFill>
                  <a:srgbClr val="D9971E"/>
                </a:solidFill>
                <a:latin typeface="Noto Sans KR"/>
              </a:rPr>
              <a:t>06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7600" y="2794000"/>
            <a:ext cx="10160000" cy="380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500" b="1">
                <a:solidFill>
                  <a:srgbClr val="17201A"/>
                </a:solidFill>
                <a:latin typeface="Noto Sans KR"/>
              </a:rPr>
              <a:t>쟁점은 보복인가, 정당한 안보 우려인가입니다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2600" y="3200400"/>
            <a:ext cx="571500" cy="380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2000" b="1">
                <a:solidFill>
                  <a:srgbClr val="D9971E"/>
                </a:solidFill>
                <a:latin typeface="Noto Sans KR"/>
              </a:rPr>
              <a:t>07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7600" y="3238500"/>
            <a:ext cx="10160000" cy="380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500" b="1">
                <a:solidFill>
                  <a:srgbClr val="17201A"/>
                </a:solidFill>
                <a:latin typeface="Noto Sans KR"/>
              </a:rPr>
              <a:t>국방 AI를 하는 A4AI에도 같은 위험이 있습니다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2600" y="3644899"/>
            <a:ext cx="571500" cy="380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2000" b="1">
                <a:solidFill>
                  <a:srgbClr val="D9971E"/>
                </a:solidFill>
                <a:latin typeface="Noto Sans KR"/>
              </a:rPr>
              <a:t>08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7600" y="3683000"/>
            <a:ext cx="10160000" cy="380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500" b="1">
                <a:solidFill>
                  <a:srgbClr val="17201A"/>
                </a:solidFill>
                <a:latin typeface="Noto Sans KR"/>
              </a:rPr>
              <a:t>결과가 나오기 전까지 확인할 것이 남아 있습니다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2600" y="4089400"/>
            <a:ext cx="571500" cy="380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2000" b="1">
                <a:solidFill>
                  <a:srgbClr val="D9971E"/>
                </a:solidFill>
                <a:latin typeface="Noto Sans KR"/>
              </a:rPr>
              <a:t>09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7600" y="4127499"/>
            <a:ext cx="10160000" cy="380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500" b="1">
                <a:solidFill>
                  <a:srgbClr val="17201A"/>
                </a:solidFill>
                <a:latin typeface="Noto Sans KR"/>
              </a:rPr>
              <a:t>결론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2600" y="380999"/>
            <a:ext cx="112268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2500" b="1">
                <a:solidFill>
                  <a:srgbClr val="17201A"/>
                </a:solidFill>
                <a:latin typeface="Noto Sans KR"/>
              </a:rPr>
              <a:t>앤트로픽이 국방부 지정에 불복해 전원 재심을 청구했습니다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2600" y="850899"/>
            <a:ext cx="112268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150" b="0">
                <a:solidFill>
                  <a:srgbClr val="5C685F"/>
                </a:solidFill>
                <a:latin typeface="Noto Sans KR"/>
              </a:rPr>
              <a:t>2026년 10월 13일, 워싱턴 D.C. 연방항소법원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82600" y="6553199"/>
            <a:ext cx="8890000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750" b="0">
                <a:solidFill>
                  <a:srgbClr val="5C685F"/>
                </a:solidFill>
                <a:latin typeface="Noto Sans KR"/>
              </a:rPr>
              <a:t>EXP-1014-01 · 앤트로픽 vs 미 국방부, 공급망 위험 지정 재심 청구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39400" y="6553199"/>
            <a:ext cx="1270000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750" b="0">
                <a:solidFill>
                  <a:srgbClr val="5C685F"/>
                </a:solidFill>
                <a:latin typeface="Noto Sans KR"/>
              </a:rPr>
              <a:t>3 / 9</a:t>
            </a:r>
          </a:p>
        </p:txBody>
      </p:sp>
      <p:sp>
        <p:nvSpPr>
          <p:cNvPr id="6" name="Rectangle 5"/>
          <p:cNvSpPr/>
          <p:nvPr/>
        </p:nvSpPr>
        <p:spPr>
          <a:xfrm>
            <a:off x="482600" y="1270000"/>
            <a:ext cx="11226800" cy="19050"/>
          </a:xfrm>
          <a:prstGeom prst="rect">
            <a:avLst/>
          </a:prstGeom>
          <a:solidFill>
            <a:srgbClr val="3F5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82600" y="1409699"/>
            <a:ext cx="11226800" cy="400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700"/>
              </a:spcAft>
            </a:pPr>
            <a:r>
              <a:rPr sz="800" b="0">
                <a:solidFill>
                  <a:srgbClr val="3F5A3A"/>
                </a:solidFill>
                <a:latin typeface="Noto Sans KR"/>
              </a:rPr>
              <a:t>■   </a:t>
            </a:r>
            <a:r>
              <a:rPr sz="1400" b="0">
                <a:solidFill>
                  <a:srgbClr val="2C362F"/>
                </a:solidFill>
                <a:latin typeface="Noto Sans KR"/>
              </a:rPr>
              <a:t>국방부가 3월에 앤트로픽을 '공급망 위험'으로 지정</a:t>
            </a:r>
          </a:p>
          <a:p>
            <a:pPr>
              <a:lnSpc>
                <a:spcPct val="140000"/>
              </a:lnSpc>
              <a:spcAft>
                <a:spcPts val="700"/>
              </a:spcAft>
            </a:pPr>
            <a:r>
              <a:rPr sz="800" b="0">
                <a:solidFill>
                  <a:srgbClr val="3F5A3A"/>
                </a:solidFill>
                <a:latin typeface="Noto Sans KR"/>
              </a:rPr>
              <a:t>■   </a:t>
            </a:r>
            <a:r>
              <a:rPr sz="1400" b="0">
                <a:solidFill>
                  <a:srgbClr val="2C362F"/>
                </a:solidFill>
                <a:latin typeface="Noto Sans KR"/>
              </a:rPr>
              <a:t>9월 25일 항소법원 3인 재판부가 2대 1로 국방부 손을 들어줌</a:t>
            </a:r>
          </a:p>
          <a:p>
            <a:pPr>
              <a:lnSpc>
                <a:spcPct val="140000"/>
              </a:lnSpc>
              <a:spcAft>
                <a:spcPts val="700"/>
              </a:spcAft>
            </a:pPr>
            <a:r>
              <a:rPr sz="800" b="0">
                <a:solidFill>
                  <a:srgbClr val="3F5A3A"/>
                </a:solidFill>
                <a:latin typeface="Noto Sans KR"/>
              </a:rPr>
              <a:t>■   </a:t>
            </a:r>
            <a:r>
              <a:rPr sz="1400" b="0">
                <a:solidFill>
                  <a:srgbClr val="2C362F"/>
                </a:solidFill>
                <a:latin typeface="Noto Sans KR"/>
              </a:rPr>
              <a:t>앤트로픽은 법원 전체가 다시 심리해 달라고 청원</a:t>
            </a:r>
          </a:p>
          <a:p>
            <a:pPr>
              <a:lnSpc>
                <a:spcPct val="140000"/>
              </a:lnSpc>
              <a:spcAft>
                <a:spcPts val="700"/>
              </a:spcAft>
            </a:pPr>
            <a:r>
              <a:rPr sz="800" b="0">
                <a:solidFill>
                  <a:srgbClr val="3F5A3A"/>
                </a:solidFill>
                <a:latin typeface="Noto Sans KR"/>
              </a:rPr>
              <a:t>■   </a:t>
            </a:r>
            <a:r>
              <a:rPr sz="1400" b="0">
                <a:solidFill>
                  <a:srgbClr val="2C362F"/>
                </a:solidFill>
                <a:latin typeface="Noto Sans KR"/>
              </a:rPr>
              <a:t>재심을 받아들일지, 언제 결정할지는 아직 알려지지 않음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82600" y="5588000"/>
            <a:ext cx="11226800" cy="533399"/>
          </a:xfrm>
          <a:prstGeom prst="roundRect">
            <a:avLst>
              <a:gd name="adj" fmla="val 14285"/>
            </a:avLst>
          </a:prstGeom>
          <a:solidFill>
            <a:srgbClr val="DCE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5588000"/>
            <a:ext cx="10795000" cy="5333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400" b="1">
                <a:solidFill>
                  <a:srgbClr val="3F5A3A"/>
                </a:solidFill>
                <a:latin typeface="Noto Sans KR"/>
              </a:rPr>
              <a:t>핵심  </a:t>
            </a:r>
            <a:r>
              <a:rPr sz="1400" b="0">
                <a:solidFill>
                  <a:srgbClr val="17201A"/>
                </a:solidFill>
                <a:latin typeface="Noto Sans KR"/>
              </a:rPr>
              <a:t>1심 격인 3인 재판부 판단을 법원 전체가 다시 볼지가 다음 고비입니다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2600" y="6197600"/>
            <a:ext cx="11226800" cy="1904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800" b="0">
                <a:solidFill>
                  <a:srgbClr val="7D897F"/>
                </a:solidFill>
                <a:latin typeface="Noto Sans KR"/>
              </a:rPr>
              <a:t>출처: AI타임스 2026-10-14 (US News 같은 소식)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2600" y="380999"/>
            <a:ext cx="112268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2500" b="1">
                <a:solidFill>
                  <a:srgbClr val="17201A"/>
                </a:solidFill>
                <a:latin typeface="Noto Sans KR"/>
              </a:rPr>
              <a:t>AI 사용 조건 협상이 깨지면서 갈등이 시작됐습니다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2600" y="850899"/>
            <a:ext cx="112268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150" b="0">
                <a:solidFill>
                  <a:srgbClr val="5C685F"/>
                </a:solidFill>
                <a:latin typeface="Noto Sans KR"/>
              </a:rPr>
              <a:t>앤트로픽은 감시·자율 살상 무기 사용 제한을 요구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82600" y="6553199"/>
            <a:ext cx="8890000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750" b="0">
                <a:solidFill>
                  <a:srgbClr val="5C685F"/>
                </a:solidFill>
                <a:latin typeface="Noto Sans KR"/>
              </a:rPr>
              <a:t>EXP-1014-01 · 앤트로픽 vs 미 국방부, 공급망 위험 지정 재심 청구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39400" y="6553199"/>
            <a:ext cx="1270000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750" b="0">
                <a:solidFill>
                  <a:srgbClr val="5C685F"/>
                </a:solidFill>
                <a:latin typeface="Noto Sans KR"/>
              </a:rPr>
              <a:t>4 / 9</a:t>
            </a:r>
          </a:p>
        </p:txBody>
      </p:sp>
      <p:sp>
        <p:nvSpPr>
          <p:cNvPr id="6" name="Rectangle 5"/>
          <p:cNvSpPr/>
          <p:nvPr/>
        </p:nvSpPr>
        <p:spPr>
          <a:xfrm>
            <a:off x="482600" y="1270000"/>
            <a:ext cx="11226800" cy="19050"/>
          </a:xfrm>
          <a:prstGeom prst="rect">
            <a:avLst/>
          </a:prstGeom>
          <a:solidFill>
            <a:srgbClr val="3F5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82600" y="1409699"/>
            <a:ext cx="11226800" cy="46354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700"/>
              </a:spcAft>
            </a:pPr>
            <a:r>
              <a:rPr sz="800" b="0">
                <a:solidFill>
                  <a:srgbClr val="3F5A3A"/>
                </a:solidFill>
                <a:latin typeface="Noto Sans KR"/>
              </a:rPr>
              <a:t>■   </a:t>
            </a:r>
            <a:r>
              <a:rPr sz="1400" b="0">
                <a:solidFill>
                  <a:srgbClr val="2C362F"/>
                </a:solidFill>
                <a:latin typeface="Noto Sans KR"/>
              </a:rPr>
              <a:t>앤트로픽: 클로드를 미국인 대량 감시에 쓰지 않을 것 요구</a:t>
            </a:r>
          </a:p>
          <a:p>
            <a:pPr>
              <a:lnSpc>
                <a:spcPct val="140000"/>
              </a:lnSpc>
              <a:spcAft>
                <a:spcPts val="700"/>
              </a:spcAft>
            </a:pPr>
            <a:r>
              <a:rPr sz="800" b="0">
                <a:solidFill>
                  <a:srgbClr val="3F5A3A"/>
                </a:solidFill>
                <a:latin typeface="Noto Sans KR"/>
              </a:rPr>
              <a:t>■   </a:t>
            </a:r>
            <a:r>
              <a:rPr sz="1400" b="0">
                <a:solidFill>
                  <a:srgbClr val="2C362F"/>
                </a:solidFill>
                <a:latin typeface="Noto Sans KR"/>
              </a:rPr>
              <a:t>사람 통제 없는 자율 살상 무기 운용 금지도 요구</a:t>
            </a:r>
          </a:p>
          <a:p>
            <a:pPr>
              <a:lnSpc>
                <a:spcPct val="140000"/>
              </a:lnSpc>
              <a:spcAft>
                <a:spcPts val="700"/>
              </a:spcAft>
            </a:pPr>
            <a:r>
              <a:rPr sz="800" b="0">
                <a:solidFill>
                  <a:srgbClr val="3F5A3A"/>
                </a:solidFill>
                <a:latin typeface="Noto Sans KR"/>
              </a:rPr>
              <a:t>■   </a:t>
            </a:r>
            <a:r>
              <a:rPr sz="1400" b="0">
                <a:solidFill>
                  <a:srgbClr val="2C362F"/>
                </a:solidFill>
                <a:latin typeface="Noto Sans KR"/>
              </a:rPr>
              <a:t>국방부: 안보 목적 기술 사용에 기업이 제한을 거는 건 불가</a:t>
            </a:r>
          </a:p>
          <a:p>
            <a:pPr>
              <a:lnSpc>
                <a:spcPct val="140000"/>
              </a:lnSpc>
              <a:spcAft>
                <a:spcPts val="700"/>
              </a:spcAft>
            </a:pPr>
            <a:r>
              <a:rPr sz="800" b="0">
                <a:solidFill>
                  <a:srgbClr val="3F5A3A"/>
                </a:solidFill>
                <a:latin typeface="Noto Sans KR"/>
              </a:rPr>
              <a:t>■   </a:t>
            </a:r>
            <a:r>
              <a:rPr sz="1400" b="0">
                <a:solidFill>
                  <a:srgbClr val="2C362F"/>
                </a:solidFill>
                <a:latin typeface="Noto Sans KR"/>
              </a:rPr>
              <a:t>'공급망 위험'은 보통 적대국 기업에 쓰던 조치라 논란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2600" y="6223000"/>
            <a:ext cx="112268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850" b="0">
                <a:solidFill>
                  <a:srgbClr val="5C685F"/>
                </a:solidFill>
                <a:latin typeface="Noto Sans KR"/>
              </a:rPr>
              <a:t>공급망 위험 지정: 국가 안보에 위험한 공급업체로 지정해 정부·방산 계약에서 사용을 제한하는 조치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2600" y="380999"/>
            <a:ext cx="112268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2500" b="1">
                <a:solidFill>
                  <a:srgbClr val="17201A"/>
                </a:solidFill>
                <a:latin typeface="Noto Sans KR"/>
              </a:rPr>
              <a:t>계약에서 소송까지 1년여 동안 판단이 엇갈렸습니다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2600" y="850899"/>
            <a:ext cx="112268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150" b="0">
                <a:solidFill>
                  <a:srgbClr val="5C685F"/>
                </a:solidFill>
                <a:latin typeface="Noto Sans KR"/>
              </a:rPr>
              <a:t>두 법원의 결론이 서로 다름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82600" y="6553199"/>
            <a:ext cx="8890000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750" b="0">
                <a:solidFill>
                  <a:srgbClr val="5C685F"/>
                </a:solidFill>
                <a:latin typeface="Noto Sans KR"/>
              </a:rPr>
              <a:t>EXP-1014-01 · 앤트로픽 vs 미 국방부, 공급망 위험 지정 재심 청구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39400" y="6553199"/>
            <a:ext cx="1270000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750" b="0">
                <a:solidFill>
                  <a:srgbClr val="5C685F"/>
                </a:solidFill>
                <a:latin typeface="Noto Sans KR"/>
              </a:rPr>
              <a:t>5 / 9</a:t>
            </a:r>
          </a:p>
        </p:txBody>
      </p:sp>
      <p:sp>
        <p:nvSpPr>
          <p:cNvPr id="6" name="Rectangle 5"/>
          <p:cNvSpPr/>
          <p:nvPr/>
        </p:nvSpPr>
        <p:spPr>
          <a:xfrm>
            <a:off x="482600" y="1270000"/>
            <a:ext cx="11226800" cy="19050"/>
          </a:xfrm>
          <a:prstGeom prst="rect">
            <a:avLst/>
          </a:prstGeom>
          <a:solidFill>
            <a:srgbClr val="3F5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82600" y="1409699"/>
            <a:ext cx="11226800" cy="4889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700"/>
              </a:spcAft>
            </a:pPr>
            <a:r>
              <a:rPr sz="800" b="0">
                <a:solidFill>
                  <a:srgbClr val="3F5A3A"/>
                </a:solidFill>
                <a:latin typeface="Noto Sans KR"/>
              </a:rPr>
              <a:t>■   </a:t>
            </a:r>
            <a:r>
              <a:rPr sz="1400" b="0">
                <a:solidFill>
                  <a:srgbClr val="2C362F"/>
                </a:solidFill>
                <a:latin typeface="Noto Sans KR"/>
              </a:rPr>
              <a:t>2025.7 국방부와 2억 달러(약 2,700억 원) 계약</a:t>
            </a:r>
          </a:p>
          <a:p>
            <a:pPr>
              <a:lnSpc>
                <a:spcPct val="140000"/>
              </a:lnSpc>
              <a:spcAft>
                <a:spcPts val="700"/>
              </a:spcAft>
            </a:pPr>
            <a:r>
              <a:rPr sz="800" b="0">
                <a:solidFill>
                  <a:srgbClr val="3F5A3A"/>
                </a:solidFill>
                <a:latin typeface="Noto Sans KR"/>
              </a:rPr>
              <a:t>■   </a:t>
            </a:r>
            <a:r>
              <a:rPr sz="1400" b="0">
                <a:solidFill>
                  <a:srgbClr val="2C362F"/>
                </a:solidFill>
                <a:latin typeface="Noto Sans KR"/>
              </a:rPr>
              <a:t>2025.9 국방부 AI 플랫폼(GenAI.mil) 배치 협상 결렬</a:t>
            </a:r>
          </a:p>
          <a:p>
            <a:pPr>
              <a:lnSpc>
                <a:spcPct val="140000"/>
              </a:lnSpc>
              <a:spcAft>
                <a:spcPts val="700"/>
              </a:spcAft>
            </a:pPr>
            <a:r>
              <a:rPr sz="800" b="0">
                <a:solidFill>
                  <a:srgbClr val="3F5A3A"/>
                </a:solidFill>
                <a:latin typeface="Noto Sans KR"/>
              </a:rPr>
              <a:t>■   </a:t>
            </a:r>
            <a:r>
              <a:rPr sz="1400" b="0">
                <a:solidFill>
                  <a:srgbClr val="2C362F"/>
                </a:solidFill>
                <a:latin typeface="Noto Sans KR"/>
              </a:rPr>
              <a:t>2026.3 공급망 위험 지정 → 캘리포니아·D.C. 두 건 소송</a:t>
            </a:r>
          </a:p>
          <a:p>
            <a:pPr>
              <a:lnSpc>
                <a:spcPct val="140000"/>
              </a:lnSpc>
              <a:spcAft>
                <a:spcPts val="700"/>
              </a:spcAft>
            </a:pPr>
            <a:r>
              <a:rPr sz="800" b="0">
                <a:solidFill>
                  <a:srgbClr val="3F5A3A"/>
                </a:solidFill>
                <a:latin typeface="Noto Sans KR"/>
              </a:rPr>
              <a:t>■   </a:t>
            </a:r>
            <a:r>
              <a:rPr sz="1400" b="0">
                <a:solidFill>
                  <a:srgbClr val="2C362F"/>
                </a:solidFill>
                <a:latin typeface="Noto Sans KR"/>
              </a:rPr>
              <a:t>2026.8 캘리포니아 지법: 보복 가능성 인정, 사용 금지 해제 (앤트로픽 승)</a:t>
            </a:r>
          </a:p>
          <a:p>
            <a:pPr>
              <a:lnSpc>
                <a:spcPct val="140000"/>
              </a:lnSpc>
              <a:spcAft>
                <a:spcPts val="700"/>
              </a:spcAft>
            </a:pPr>
            <a:r>
              <a:rPr sz="800" b="0">
                <a:solidFill>
                  <a:srgbClr val="3F5A3A"/>
                </a:solidFill>
                <a:latin typeface="Noto Sans KR"/>
              </a:rPr>
              <a:t>■   </a:t>
            </a:r>
            <a:r>
              <a:rPr sz="1400" b="0">
                <a:solidFill>
                  <a:srgbClr val="2C362F"/>
                </a:solidFill>
                <a:latin typeface="Noto Sans KR"/>
              </a:rPr>
              <a:t>2026.9.25 D.C. 항소법원: 지정 적법 2대 1 (앤트로픽 패)</a:t>
            </a:r>
          </a:p>
          <a:p>
            <a:pPr>
              <a:lnSpc>
                <a:spcPct val="140000"/>
              </a:lnSpc>
              <a:spcAft>
                <a:spcPts val="700"/>
              </a:spcAft>
            </a:pPr>
            <a:r>
              <a:rPr sz="800" b="0">
                <a:solidFill>
                  <a:srgbClr val="3F5A3A"/>
                </a:solidFill>
                <a:latin typeface="Noto Sans KR"/>
              </a:rPr>
              <a:t>■   </a:t>
            </a:r>
            <a:r>
              <a:rPr sz="1400" b="0">
                <a:solidFill>
                  <a:srgbClr val="2C362F"/>
                </a:solidFill>
                <a:latin typeface="Noto Sans KR"/>
              </a:rPr>
              <a:t>2026.10.13 전원 재심 청구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2600" y="380999"/>
            <a:ext cx="112268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2500" b="1">
                <a:solidFill>
                  <a:srgbClr val="17201A"/>
                </a:solidFill>
                <a:latin typeface="Noto Sans KR"/>
              </a:rPr>
              <a:t>쟁점은 보복인가, 정당한 안보 우려인가입니다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2600" y="850899"/>
            <a:ext cx="112268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150" b="0">
                <a:solidFill>
                  <a:srgbClr val="5C685F"/>
                </a:solidFill>
                <a:latin typeface="Noto Sans KR"/>
              </a:rPr>
              <a:t>양쪽 논리 비교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82600" y="6553199"/>
            <a:ext cx="8890000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750" b="0">
                <a:solidFill>
                  <a:srgbClr val="5C685F"/>
                </a:solidFill>
                <a:latin typeface="Noto Sans KR"/>
              </a:rPr>
              <a:t>EXP-1014-01 · 앤트로픽 vs 미 국방부, 공급망 위험 지정 재심 청구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39400" y="6553199"/>
            <a:ext cx="1270000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750" b="0">
                <a:solidFill>
                  <a:srgbClr val="5C685F"/>
                </a:solidFill>
                <a:latin typeface="Noto Sans KR"/>
              </a:rPr>
              <a:t>6 / 9</a:t>
            </a:r>
          </a:p>
        </p:txBody>
      </p:sp>
      <p:sp>
        <p:nvSpPr>
          <p:cNvPr id="6" name="Rectangle 5"/>
          <p:cNvSpPr/>
          <p:nvPr/>
        </p:nvSpPr>
        <p:spPr>
          <a:xfrm>
            <a:off x="482600" y="1270000"/>
            <a:ext cx="11226800" cy="19050"/>
          </a:xfrm>
          <a:prstGeom prst="rect">
            <a:avLst/>
          </a:prstGeom>
          <a:solidFill>
            <a:srgbClr val="3F5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82600" y="1409699"/>
            <a:ext cx="11226800" cy="4229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700"/>
              </a:spcAft>
            </a:pPr>
            <a:r>
              <a:rPr sz="800" b="0">
                <a:solidFill>
                  <a:srgbClr val="3F5A3A"/>
                </a:solidFill>
                <a:latin typeface="Noto Sans KR"/>
              </a:rPr>
              <a:t>■   </a:t>
            </a:r>
            <a:r>
              <a:rPr sz="1400" b="0">
                <a:solidFill>
                  <a:srgbClr val="2C362F"/>
                </a:solidFill>
                <a:latin typeface="Noto Sans KR"/>
              </a:rPr>
              <a:t>앤트로픽: AI 안전 원칙을 밝힌 회사에 대한 보복성 제재</a:t>
            </a:r>
          </a:p>
          <a:p>
            <a:pPr>
              <a:lnSpc>
                <a:spcPct val="140000"/>
              </a:lnSpc>
              <a:spcAft>
                <a:spcPts val="700"/>
              </a:spcAft>
            </a:pPr>
            <a:r>
              <a:rPr sz="800" b="0">
                <a:solidFill>
                  <a:srgbClr val="3F5A3A"/>
                </a:solidFill>
                <a:latin typeface="Noto Sans KR"/>
              </a:rPr>
              <a:t>■   </a:t>
            </a:r>
            <a:r>
              <a:rPr sz="1400" b="0">
                <a:solidFill>
                  <a:srgbClr val="2C362F"/>
                </a:solidFill>
                <a:latin typeface="Noto Sans KR"/>
              </a:rPr>
              <a:t>앤트로픽: 사전 절차 없이 지정, 관련 법도 잘못 해석</a:t>
            </a:r>
          </a:p>
          <a:p>
            <a:pPr>
              <a:lnSpc>
                <a:spcPct val="140000"/>
              </a:lnSpc>
              <a:spcAft>
                <a:spcPts val="700"/>
              </a:spcAft>
            </a:pPr>
            <a:r>
              <a:rPr sz="800" b="0">
                <a:solidFill>
                  <a:srgbClr val="3F5A3A"/>
                </a:solidFill>
                <a:latin typeface="Noto Sans KR"/>
              </a:rPr>
              <a:t>■   </a:t>
            </a:r>
            <a:r>
              <a:rPr sz="1400" b="0">
                <a:solidFill>
                  <a:srgbClr val="2C362F"/>
                </a:solidFill>
                <a:latin typeface="Noto Sans KR"/>
              </a:rPr>
              <a:t>국방부(다수 의견): 클로드 설계를 바꿔 안보 임무를 방해할 수 있다는 우려는 합리적</a:t>
            </a:r>
          </a:p>
          <a:p>
            <a:pPr>
              <a:lnSpc>
                <a:spcPct val="140000"/>
              </a:lnSpc>
              <a:spcAft>
                <a:spcPts val="700"/>
              </a:spcAft>
            </a:pPr>
            <a:r>
              <a:rPr sz="800" b="0">
                <a:solidFill>
                  <a:srgbClr val="3F5A3A"/>
                </a:solidFill>
                <a:latin typeface="Noto Sans KR"/>
              </a:rPr>
              <a:t>■   </a:t>
            </a:r>
            <a:r>
              <a:rPr sz="1400" b="0">
                <a:solidFill>
                  <a:srgbClr val="2C362F"/>
                </a:solidFill>
                <a:latin typeface="Noto Sans KR"/>
              </a:rPr>
              <a:t>판단 근거는 '모델 공급자가 사용 조건을 바꿀 수 있다'는 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82600" y="5816600"/>
            <a:ext cx="11226800" cy="533399"/>
          </a:xfrm>
          <a:prstGeom prst="roundRect">
            <a:avLst>
              <a:gd name="adj" fmla="val 14285"/>
            </a:avLst>
          </a:prstGeom>
          <a:solidFill>
            <a:srgbClr val="DCE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5816600"/>
            <a:ext cx="10795000" cy="5333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400" b="1">
                <a:solidFill>
                  <a:srgbClr val="3F5A3A"/>
                </a:solidFill>
                <a:latin typeface="Noto Sans KR"/>
              </a:rPr>
              <a:t>핵심  </a:t>
            </a:r>
            <a:r>
              <a:rPr sz="1400" b="0">
                <a:solidFill>
                  <a:srgbClr val="17201A"/>
                </a:solidFill>
                <a:latin typeface="Noto Sans KR"/>
              </a:rPr>
              <a:t>모델을 만든 회사가 사용 조건을 쥐고 있다는 것 자체가 국방에서는 위험으로 읽힐 수 있습니다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2600" y="380999"/>
            <a:ext cx="112268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2500" b="1">
                <a:solidFill>
                  <a:srgbClr val="17201A"/>
                </a:solidFill>
                <a:latin typeface="Noto Sans KR"/>
              </a:rPr>
              <a:t>국방 AI를 하는 A4AI에도 같은 위험이 있습니다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2600" y="850899"/>
            <a:ext cx="112268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150" b="0">
                <a:solidFill>
                  <a:srgbClr val="5C685F"/>
                </a:solidFill>
                <a:latin typeface="Noto Sans KR"/>
              </a:rPr>
              <a:t>A4AI 사업에 비춰 본 판단 (추정 포함)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82600" y="6553199"/>
            <a:ext cx="8890000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750" b="0">
                <a:solidFill>
                  <a:srgbClr val="5C685F"/>
                </a:solidFill>
                <a:latin typeface="Noto Sans KR"/>
              </a:rPr>
              <a:t>EXP-1014-01 · 앤트로픽 vs 미 국방부, 공급망 위험 지정 재심 청구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39400" y="6553199"/>
            <a:ext cx="1270000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750" b="0">
                <a:solidFill>
                  <a:srgbClr val="5C685F"/>
                </a:solidFill>
                <a:latin typeface="Noto Sans KR"/>
              </a:rPr>
              <a:t>7 / 9</a:t>
            </a:r>
          </a:p>
        </p:txBody>
      </p:sp>
      <p:sp>
        <p:nvSpPr>
          <p:cNvPr id="6" name="Rectangle 5"/>
          <p:cNvSpPr/>
          <p:nvPr/>
        </p:nvSpPr>
        <p:spPr>
          <a:xfrm>
            <a:off x="482600" y="1270000"/>
            <a:ext cx="11226800" cy="19050"/>
          </a:xfrm>
          <a:prstGeom prst="rect">
            <a:avLst/>
          </a:prstGeom>
          <a:solidFill>
            <a:srgbClr val="3F5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82600" y="1409699"/>
            <a:ext cx="11226800" cy="4889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700"/>
              </a:spcAft>
            </a:pPr>
            <a:r>
              <a:rPr sz="800" b="0">
                <a:solidFill>
                  <a:srgbClr val="3F5A3A"/>
                </a:solidFill>
                <a:latin typeface="Noto Sans KR"/>
              </a:rPr>
              <a:t>■   </a:t>
            </a:r>
            <a:r>
              <a:rPr sz="1400" b="0">
                <a:solidFill>
                  <a:srgbClr val="2C362F"/>
                </a:solidFill>
                <a:latin typeface="Noto Sans KR"/>
              </a:rPr>
              <a:t>국방 과제에 외부 상용 AI 모델을 쓰면 공급사 정책·지정이 곧 사업 위험</a:t>
            </a:r>
          </a:p>
          <a:p>
            <a:pPr>
              <a:lnSpc>
                <a:spcPct val="140000"/>
              </a:lnSpc>
              <a:spcAft>
                <a:spcPts val="700"/>
              </a:spcAft>
            </a:pPr>
            <a:r>
              <a:rPr sz="800" b="0">
                <a:solidFill>
                  <a:srgbClr val="3F5A3A"/>
                </a:solidFill>
                <a:latin typeface="Noto Sans KR"/>
              </a:rPr>
              <a:t>■   </a:t>
            </a:r>
            <a:r>
              <a:rPr sz="1400" b="0">
                <a:solidFill>
                  <a:srgbClr val="2C362F"/>
                </a:solidFill>
                <a:latin typeface="Noto Sans KR"/>
              </a:rPr>
              <a:t>지정은 공급사뿐 아니라 그 기술을 쓰는 협력사 계약까지 영향</a:t>
            </a:r>
          </a:p>
          <a:p>
            <a:pPr>
              <a:lnSpc>
                <a:spcPct val="140000"/>
              </a:lnSpc>
              <a:spcAft>
                <a:spcPts val="700"/>
              </a:spcAft>
            </a:pPr>
            <a:r>
              <a:rPr sz="800" b="0">
                <a:solidFill>
                  <a:srgbClr val="3F5A3A"/>
                </a:solidFill>
                <a:latin typeface="Noto Sans KR"/>
              </a:rPr>
              <a:t>■   </a:t>
            </a:r>
            <a:r>
              <a:rPr sz="1400" b="0">
                <a:solidFill>
                  <a:srgbClr val="2C362F"/>
                </a:solidFill>
                <a:latin typeface="Noto Sans KR"/>
              </a:rPr>
              <a:t>온디바이스·자체 모델처럼 통제권을 가진 구성의 가치가 커짐 (추정)</a:t>
            </a:r>
          </a:p>
          <a:p>
            <a:pPr>
              <a:lnSpc>
                <a:spcPct val="140000"/>
              </a:lnSpc>
              <a:spcAft>
                <a:spcPts val="700"/>
              </a:spcAft>
            </a:pPr>
            <a:r>
              <a:rPr sz="800" b="0">
                <a:solidFill>
                  <a:srgbClr val="3F5A3A"/>
                </a:solidFill>
                <a:latin typeface="Noto Sans KR"/>
              </a:rPr>
              <a:t>■   </a:t>
            </a:r>
            <a:r>
              <a:rPr sz="1400" b="0">
                <a:solidFill>
                  <a:srgbClr val="2C362F"/>
                </a:solidFill>
                <a:latin typeface="Noto Sans KR"/>
              </a:rPr>
              <a:t>국내 국방 사업에 직접 영향이 있는지는 기사에서 확인되지 않음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2600" y="380999"/>
            <a:ext cx="112268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2500" b="1">
                <a:solidFill>
                  <a:srgbClr val="17201A"/>
                </a:solidFill>
                <a:latin typeface="Noto Sans KR"/>
              </a:rPr>
              <a:t>결과가 나오기 전까지 확인할 것이 남아 있습니다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2600" y="850899"/>
            <a:ext cx="112268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150" b="0">
                <a:solidFill>
                  <a:srgbClr val="5C685F"/>
                </a:solidFill>
                <a:latin typeface="Noto Sans KR"/>
              </a:rPr>
              <a:t>주의할 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82600" y="6553199"/>
            <a:ext cx="8890000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750" b="0">
                <a:solidFill>
                  <a:srgbClr val="5C685F"/>
                </a:solidFill>
                <a:latin typeface="Noto Sans KR"/>
              </a:rPr>
              <a:t>EXP-1014-01 · 앤트로픽 vs 미 국방부, 공급망 위험 지정 재심 청구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39400" y="6553199"/>
            <a:ext cx="1270000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750" b="0">
                <a:solidFill>
                  <a:srgbClr val="5C685F"/>
                </a:solidFill>
                <a:latin typeface="Noto Sans KR"/>
              </a:rPr>
              <a:t>8 / 9</a:t>
            </a:r>
          </a:p>
        </p:txBody>
      </p:sp>
      <p:sp>
        <p:nvSpPr>
          <p:cNvPr id="6" name="Rectangle 5"/>
          <p:cNvSpPr/>
          <p:nvPr/>
        </p:nvSpPr>
        <p:spPr>
          <a:xfrm>
            <a:off x="482600" y="1270000"/>
            <a:ext cx="11226800" cy="19050"/>
          </a:xfrm>
          <a:prstGeom prst="rect">
            <a:avLst/>
          </a:prstGeom>
          <a:solidFill>
            <a:srgbClr val="3F5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82600" y="1409699"/>
            <a:ext cx="11226800" cy="4229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700"/>
              </a:spcAft>
            </a:pPr>
            <a:r>
              <a:rPr sz="800" b="0">
                <a:solidFill>
                  <a:srgbClr val="3F5A3A"/>
                </a:solidFill>
                <a:latin typeface="Noto Sans KR"/>
              </a:rPr>
              <a:t>■   </a:t>
            </a:r>
            <a:r>
              <a:rPr sz="1400" b="0">
                <a:solidFill>
                  <a:srgbClr val="2C362F"/>
                </a:solidFill>
                <a:latin typeface="Noto Sans KR"/>
              </a:rPr>
              <a:t>재심 수용 여부와 시기 미정 → 결론이 다시 바뀔 수 있음</a:t>
            </a:r>
          </a:p>
          <a:p>
            <a:pPr>
              <a:lnSpc>
                <a:spcPct val="140000"/>
              </a:lnSpc>
              <a:spcAft>
                <a:spcPts val="700"/>
              </a:spcAft>
            </a:pPr>
            <a:r>
              <a:rPr sz="800" b="0">
                <a:solidFill>
                  <a:srgbClr val="3F5A3A"/>
                </a:solidFill>
                <a:latin typeface="Noto Sans KR"/>
              </a:rPr>
              <a:t>■   </a:t>
            </a:r>
            <a:r>
              <a:rPr sz="1400" b="0">
                <a:solidFill>
                  <a:srgbClr val="2C362F"/>
                </a:solidFill>
                <a:latin typeface="Noto Sans KR"/>
              </a:rPr>
              <a:t>캘리포니아 판결과 충돌 → 상급심 판단 가능성 (추정)</a:t>
            </a:r>
          </a:p>
          <a:p>
            <a:pPr>
              <a:lnSpc>
                <a:spcPct val="140000"/>
              </a:lnSpc>
              <a:spcAft>
                <a:spcPts val="700"/>
              </a:spcAft>
            </a:pPr>
            <a:r>
              <a:rPr sz="800" b="0">
                <a:solidFill>
                  <a:srgbClr val="3F5A3A"/>
                </a:solidFill>
                <a:latin typeface="Noto Sans KR"/>
              </a:rPr>
              <a:t>■   </a:t>
            </a:r>
            <a:r>
              <a:rPr sz="1400" b="0">
                <a:solidFill>
                  <a:srgbClr val="2C362F"/>
                </a:solidFill>
                <a:latin typeface="Noto Sans KR"/>
              </a:rPr>
              <a:t>한국 방산 협력 사업에 미국 규정이 적용되는지 별도 확인 필요</a:t>
            </a:r>
          </a:p>
          <a:p>
            <a:pPr>
              <a:lnSpc>
                <a:spcPct val="140000"/>
              </a:lnSpc>
              <a:spcAft>
                <a:spcPts val="700"/>
              </a:spcAft>
            </a:pPr>
            <a:r>
              <a:rPr sz="800" b="0">
                <a:solidFill>
                  <a:srgbClr val="3F5A3A"/>
                </a:solidFill>
                <a:latin typeface="Noto Sans KR"/>
              </a:rPr>
              <a:t>■   </a:t>
            </a:r>
            <a:r>
              <a:rPr sz="1400" b="0">
                <a:solidFill>
                  <a:srgbClr val="2C362F"/>
                </a:solidFill>
                <a:latin typeface="Noto Sans KR"/>
              </a:rPr>
              <a:t>기사 본문 기준 정리이며 원문 판결문은 확인하지 않음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82600" y="5816600"/>
            <a:ext cx="11226800" cy="533399"/>
          </a:xfrm>
          <a:prstGeom prst="roundRect">
            <a:avLst>
              <a:gd name="adj" fmla="val 14285"/>
            </a:avLst>
          </a:prstGeom>
          <a:solidFill>
            <a:srgbClr val="DCE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5816600"/>
            <a:ext cx="10795000" cy="5333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400" b="1">
                <a:solidFill>
                  <a:srgbClr val="3F5A3A"/>
                </a:solidFill>
                <a:latin typeface="Noto Sans KR"/>
              </a:rPr>
              <a:t>핵심  </a:t>
            </a:r>
            <a:r>
              <a:rPr sz="1400" b="0">
                <a:solidFill>
                  <a:srgbClr val="17201A"/>
                </a:solidFill>
                <a:latin typeface="Noto Sans KR"/>
              </a:rPr>
              <a:t>지금은 판단을 확정하기보다 우리 과제의 모델 의존도를 미리 정리해 둘 때입니다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2600" y="380999"/>
            <a:ext cx="112268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2500" b="1">
                <a:solidFill>
                  <a:srgbClr val="17201A"/>
                </a:solidFill>
                <a:latin typeface="Noto Sans KR"/>
              </a:rPr>
              <a:t>재심 결과를 지켜보며 국방 과제의 외부 AI 모델 의존부터 점검합니다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2600" y="850899"/>
            <a:ext cx="112268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150" b="0">
                <a:solidFill>
                  <a:srgbClr val="5C685F"/>
                </a:solidFill>
                <a:latin typeface="Noto Sans KR"/>
              </a:rPr>
              <a:t>판정: 보류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82600" y="6553199"/>
            <a:ext cx="8890000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750" b="0">
                <a:solidFill>
                  <a:srgbClr val="5C685F"/>
                </a:solidFill>
                <a:latin typeface="Noto Sans KR"/>
              </a:rPr>
              <a:t>EXP-1014-01 · 앤트로픽 vs 미 국방부, 공급망 위험 지정 재심 청구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39400" y="6553199"/>
            <a:ext cx="1270000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750" b="0">
                <a:solidFill>
                  <a:srgbClr val="5C685F"/>
                </a:solidFill>
                <a:latin typeface="Noto Sans KR"/>
              </a:rPr>
              <a:t>9 / 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82600" y="1270000"/>
            <a:ext cx="1016000" cy="355599"/>
          </a:xfrm>
          <a:prstGeom prst="roundRect">
            <a:avLst>
              <a:gd name="adj" fmla="val 21428"/>
            </a:avLst>
          </a:prstGeom>
          <a:solidFill>
            <a:srgbClr val="3F5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Noto Sans KR"/>
              </a:rPr>
              <a:t>보류</a:t>
            </a:r>
          </a:p>
        </p:txBody>
      </p:sp>
      <p:sp>
        <p:nvSpPr>
          <p:cNvPr id="7" name="Rectangle 6"/>
          <p:cNvSpPr/>
          <p:nvPr/>
        </p:nvSpPr>
        <p:spPr>
          <a:xfrm>
            <a:off x="482600" y="1816099"/>
            <a:ext cx="5549899" cy="19050"/>
          </a:xfrm>
          <a:prstGeom prst="rect">
            <a:avLst/>
          </a:prstGeom>
          <a:solidFill>
            <a:srgbClr val="3F5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82600" y="1955800"/>
            <a:ext cx="5549899" cy="317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800" b="1">
                <a:solidFill>
                  <a:srgbClr val="17201A"/>
                </a:solidFill>
                <a:latin typeface="Noto Sans KR"/>
              </a:rPr>
              <a:t>근거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2600" y="2374899"/>
            <a:ext cx="5549899" cy="434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700"/>
              </a:spcAft>
            </a:pPr>
            <a:r>
              <a:rPr sz="800" b="0">
                <a:solidFill>
                  <a:srgbClr val="3F5A3A"/>
                </a:solidFill>
                <a:latin typeface="Noto Sans KR"/>
              </a:rPr>
              <a:t>■   </a:t>
            </a:r>
            <a:r>
              <a:rPr sz="1400" b="0">
                <a:solidFill>
                  <a:srgbClr val="2C362F"/>
                </a:solidFill>
                <a:latin typeface="Noto Sans KR"/>
              </a:rPr>
              <a:t>법원 판단이 엇갈려 아직 결론이 확정되지 않음 (근거: 3번, 5번)</a:t>
            </a:r>
          </a:p>
          <a:p>
            <a:pPr>
              <a:lnSpc>
                <a:spcPct val="140000"/>
              </a:lnSpc>
              <a:spcAft>
                <a:spcPts val="700"/>
              </a:spcAft>
            </a:pPr>
            <a:r>
              <a:rPr sz="800" b="0">
                <a:solidFill>
                  <a:srgbClr val="3F5A3A"/>
                </a:solidFill>
                <a:latin typeface="Noto Sans KR"/>
              </a:rPr>
              <a:t>■   </a:t>
            </a:r>
            <a:r>
              <a:rPr sz="1400" b="0">
                <a:solidFill>
                  <a:srgbClr val="2C362F"/>
                </a:solidFill>
                <a:latin typeface="Noto Sans KR"/>
              </a:rPr>
              <a:t>모델 공급자의 통제권이 국방 계약 위험으로 인정됨 (근거: 6번)</a:t>
            </a:r>
          </a:p>
          <a:p>
            <a:pPr>
              <a:lnSpc>
                <a:spcPct val="140000"/>
              </a:lnSpc>
              <a:spcAft>
                <a:spcPts val="700"/>
              </a:spcAft>
            </a:pPr>
            <a:r>
              <a:rPr sz="800" b="0">
                <a:solidFill>
                  <a:srgbClr val="3F5A3A"/>
                </a:solidFill>
                <a:latin typeface="Noto Sans KR"/>
              </a:rPr>
              <a:t>■   </a:t>
            </a:r>
            <a:r>
              <a:rPr sz="1400" b="0">
                <a:solidFill>
                  <a:srgbClr val="2C362F"/>
                </a:solidFill>
                <a:latin typeface="Noto Sans KR"/>
              </a:rPr>
              <a:t>A4AI 국방 과제도 외부 모델을 쓰면 같은 위험 (근거: 7번)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59500" y="1816099"/>
            <a:ext cx="5549899" cy="19050"/>
          </a:xfrm>
          <a:prstGeom prst="rect">
            <a:avLst/>
          </a:prstGeom>
          <a:solidFill>
            <a:srgbClr val="3F5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59500" y="1955800"/>
            <a:ext cx="5549899" cy="317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800" b="1">
                <a:solidFill>
                  <a:srgbClr val="17201A"/>
                </a:solidFill>
                <a:latin typeface="Noto Sans KR"/>
              </a:rPr>
              <a:t>다음 할 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59500" y="2374899"/>
            <a:ext cx="5549899" cy="434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700"/>
              </a:spcAft>
            </a:pPr>
            <a:r>
              <a:rPr sz="800" b="0">
                <a:solidFill>
                  <a:srgbClr val="3F5A3A"/>
                </a:solidFill>
                <a:latin typeface="Noto Sans KR"/>
              </a:rPr>
              <a:t>■   </a:t>
            </a:r>
            <a:r>
              <a:rPr sz="1400" b="0">
                <a:solidFill>
                  <a:srgbClr val="2C362F"/>
                </a:solidFill>
                <a:latin typeface="Noto Sans KR"/>
              </a:rPr>
              <a:t>국방 과제에 쓰는 외부 AI 모델과 사용 약관 목록 정리</a:t>
            </a:r>
          </a:p>
          <a:p>
            <a:pPr>
              <a:lnSpc>
                <a:spcPct val="140000"/>
              </a:lnSpc>
              <a:spcAft>
                <a:spcPts val="700"/>
              </a:spcAft>
            </a:pPr>
            <a:r>
              <a:rPr sz="800" b="0">
                <a:solidFill>
                  <a:srgbClr val="3F5A3A"/>
                </a:solidFill>
                <a:latin typeface="Noto Sans KR"/>
              </a:rPr>
              <a:t>■   </a:t>
            </a:r>
            <a:r>
              <a:rPr sz="1400" b="0">
                <a:solidFill>
                  <a:srgbClr val="2C362F"/>
                </a:solidFill>
                <a:latin typeface="Noto Sans KR"/>
              </a:rPr>
              <a:t>자체·온디바이스 모델 대안 검토 메모 작성</a:t>
            </a:r>
          </a:p>
          <a:p>
            <a:pPr>
              <a:lnSpc>
                <a:spcPct val="140000"/>
              </a:lnSpc>
              <a:spcAft>
                <a:spcPts val="700"/>
              </a:spcAft>
            </a:pPr>
            <a:r>
              <a:rPr sz="800" b="0">
                <a:solidFill>
                  <a:srgbClr val="3F5A3A"/>
                </a:solidFill>
                <a:latin typeface="Noto Sans KR"/>
              </a:rPr>
              <a:t>■   </a:t>
            </a:r>
            <a:r>
              <a:rPr sz="1400" b="0">
                <a:solidFill>
                  <a:srgbClr val="2C362F"/>
                </a:solidFill>
                <a:latin typeface="Noto Sans KR"/>
              </a:rPr>
              <a:t>재심 결정이 나오면 뉴스룸에서 다시 확인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