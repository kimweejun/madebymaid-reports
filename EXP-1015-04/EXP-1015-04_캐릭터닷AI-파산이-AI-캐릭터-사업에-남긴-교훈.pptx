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이용자</c:v>
                </c:pt>
              </c:strCache>
            </c:strRef>
          </c:tx>
          <c:spPr>
            <a:solidFill>
              <a:srgbClr val="8E3427"/>
            </a:solidFill>
          </c:spPr>
          <c:cat>
            <c:strRef>
              <c:f>Sheet1!$A$2:$A$3</c:f>
              <c:strCache>
                <c:ptCount val="2"/>
                <c:pt idx="0">
                  <c:v>캐릭터닷AI</c:v>
                </c:pt>
                <c:pt idx="1">
                  <c:v>챗GPT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420</c:v>
                </c:pt>
                <c:pt idx="1">
                  <c:v>600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17201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6DED2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6DE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5C685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C362F"/>
          </a:solidFill>
          <a:latin typeface="Noto Sans KR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22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8500" y="1904999"/>
            <a:ext cx="761999" cy="38100"/>
          </a:xfrm>
          <a:prstGeom prst="rect">
            <a:avLst/>
          </a:prstGeom>
          <a:solidFill>
            <a:srgbClr val="D99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8500" y="2095499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D9971E"/>
                </a:solidFill>
                <a:latin typeface="Noto Sans KR"/>
              </a:rPr>
              <a:t>EXP-1015-04 · PPT로 분석하기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500" y="2476499"/>
            <a:ext cx="10160000" cy="330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2000"/>
              </a:spcAft>
            </a:pPr>
            <a:r>
              <a:rPr sz="4400" b="1">
                <a:solidFill>
                  <a:srgbClr val="FFFFFF"/>
                </a:solidFill>
                <a:latin typeface="Noto Sans KR"/>
              </a:rPr>
              <a:t>캐릭터닷AI 파산이 AI 캐릭터 사업에</a:t>
            </a:r>
            <a:br/>
            <a:r>
              <a:rPr sz="4400" b="1">
                <a:solidFill>
                  <a:srgbClr val="FFFFFF"/>
                </a:solidFill>
                <a:latin typeface="Noto Sans KR"/>
              </a:rPr>
              <a:t>남긴 교훈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sz="1500" b="0">
                <a:solidFill>
                  <a:srgbClr val="D5DDD2"/>
                </a:solidFill>
                <a:latin typeface="Noto Sans KR"/>
              </a:rPr>
              <a:t>챗GPT와 겨루던 서비스가 4년 만에 파산보호를 신청한 이유와 A4AI가 볼 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" y="6095999"/>
            <a:ext cx="10160000" cy="190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9AA59C"/>
                </a:solidFill>
                <a:latin typeface="Noto Sans KR"/>
              </a:rPr>
              <a:t>람 · https://www.aitimes.com/news/articleView.html?idxno=216239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380999"/>
            <a:ext cx="112268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17201A"/>
                </a:solidFill>
                <a:latin typeface="Noto Sans KR"/>
              </a:rPr>
              <a:t>이 보고서의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850899"/>
            <a:ext cx="11226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C685F"/>
                </a:solidFill>
                <a:latin typeface="Noto Sans KR"/>
              </a:rPr>
              <a:t>챗GPT와 겨루던 서비스가 4년 만에 파산보호를 신청한 이유와 A4AI가 볼 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6553199"/>
            <a:ext cx="889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EXP-1015-04 · 캐릭터닷AI 파산이 AI 캐릭터 사업에 남긴 교훈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400" y="6553199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2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422399"/>
            <a:ext cx="5715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D9971E"/>
                </a:solidFill>
                <a:latin typeface="Noto Sans KR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" y="1460500"/>
            <a:ext cx="101600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17201A"/>
                </a:solidFill>
                <a:latin typeface="Noto Sans KR"/>
              </a:rPr>
              <a:t>캐릭터닷AI가 서비스 4년 만에 파산보호를 신청했습니다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866899"/>
            <a:ext cx="5715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D9971E"/>
                </a:solidFill>
                <a:latin typeface="Noto Sans KR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600" y="1904999"/>
            <a:ext cx="101600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17201A"/>
                </a:solidFill>
                <a:latin typeface="Noto Sans KR"/>
              </a:rPr>
              <a:t>한때는 챗GPT와 맞먹는 이용자를 모았습니다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311400"/>
            <a:ext cx="5715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D9971E"/>
                </a:solidFill>
                <a:latin typeface="Noto Sans KR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600" y="2349500"/>
            <a:ext cx="101600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17201A"/>
                </a:solidFill>
                <a:latin typeface="Noto Sans KR"/>
              </a:rPr>
              <a:t>네 가지 압박이 겹쳐 인수가 막혔습니다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2755900"/>
            <a:ext cx="5715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D9971E"/>
                </a:solidFill>
                <a:latin typeface="Noto Sans KR"/>
              </a:rPr>
              <a:t>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7600" y="2794000"/>
            <a:ext cx="101600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17201A"/>
                </a:solidFill>
                <a:latin typeface="Noto Sans KR"/>
              </a:rPr>
              <a:t>적자보다 가늠할 수 없는 소송 위험이 더 컸습니다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3200400"/>
            <a:ext cx="5715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D9971E"/>
                </a:solidFill>
                <a:latin typeface="Noto Sans KR"/>
              </a:rPr>
              <a:t>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7600" y="3238500"/>
            <a:ext cx="101600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17201A"/>
                </a:solidFill>
                <a:latin typeface="Noto Sans KR"/>
              </a:rPr>
              <a:t>캐릭터 챗 시장 자체가 끝난 것은 아닙니다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3644899"/>
            <a:ext cx="5715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D9971E"/>
                </a:solidFill>
                <a:latin typeface="Noto Sans KR"/>
              </a:rPr>
              <a:t>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7600" y="3683000"/>
            <a:ext cx="101600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17201A"/>
                </a:solidFill>
                <a:latin typeface="Noto Sans KR"/>
              </a:rPr>
              <a:t>A4AI 콘텐츠·음성 AI 사업은 안전 설계를 먼저 갖춰야 합니다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4089400"/>
            <a:ext cx="5715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D9971E"/>
                </a:solidFill>
                <a:latin typeface="Noto Sans KR"/>
              </a:rPr>
              <a:t>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7600" y="4127499"/>
            <a:ext cx="101600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17201A"/>
                </a:solidFill>
                <a:latin typeface="Noto Sans KR"/>
              </a:rPr>
              <a:t>결론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380999"/>
            <a:ext cx="112268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17201A"/>
                </a:solidFill>
                <a:latin typeface="Noto Sans KR"/>
              </a:rPr>
              <a:t>캐릭터닷AI가 서비스 4년 만에 파산보호를 신청했습니다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850899"/>
            <a:ext cx="11226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C685F"/>
                </a:solidFill>
                <a:latin typeface="Noto Sans KR"/>
              </a:rPr>
              <a:t>AI타임스 2026-10-15 뉴스 브리핑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6553199"/>
            <a:ext cx="889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EXP-1015-04 · 캐릭터닷AI 파산이 AI 캐릭터 사업에 남긴 교훈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400" y="6553199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3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482600" y="1270000"/>
            <a:ext cx="11226800" cy="19050"/>
          </a:xfrm>
          <a:prstGeom prst="rect">
            <a:avLst/>
          </a:prstGeom>
          <a:solidFill>
            <a:srgbClr val="8E3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2600" y="1409699"/>
            <a:ext cx="11226800" cy="422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유명인·영화·게임 캐릭터와 대화하고 직접 캐릭터를 만드는 서비스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2022년 9월 공개, 2026년 10월 챕터11 파산보호 신청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인수 후보 28곳과 접촉했지만 실행 가능한 제안이 없었음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디즈니는 일부 지식재산만 2,000만 달러에 사겠다고 제시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2600" y="5816600"/>
            <a:ext cx="11226800" cy="533399"/>
          </a:xfrm>
          <a:prstGeom prst="roundRect">
            <a:avLst>
              <a:gd name="adj" fmla="val 14285"/>
            </a:avLst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816600"/>
            <a:ext cx="10795000" cy="5333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8E3427"/>
                </a:solidFill>
                <a:latin typeface="Noto Sans KR"/>
              </a:rPr>
              <a:t>핵심  </a:t>
            </a:r>
            <a:r>
              <a:rPr sz="1400" b="0">
                <a:solidFill>
                  <a:srgbClr val="17201A"/>
                </a:solidFill>
                <a:latin typeface="Noto Sans KR"/>
              </a:rPr>
              <a:t>기술과 콘텐츠는 원하지만 회사의 책임은 아무도 떠안지 않으려 했습니다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380999"/>
            <a:ext cx="112268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17201A"/>
                </a:solidFill>
                <a:latin typeface="Noto Sans KR"/>
              </a:rPr>
              <a:t>한때는 챗GPT와 맞먹는 이용자를 모았습니다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850899"/>
            <a:ext cx="11226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C685F"/>
                </a:solidFill>
                <a:latin typeface="Noto Sans KR"/>
              </a:rPr>
              <a:t>2023년 8월 미국 모바일 월간 활성 이용자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6553199"/>
            <a:ext cx="889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EXP-1015-04 · 캐릭터닷AI 파산이 AI 캐릭터 사업에 남긴 교훈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400" y="6553199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4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482600" y="1270000"/>
            <a:ext cx="4445000" cy="19050"/>
          </a:xfrm>
          <a:prstGeom prst="rect">
            <a:avLst/>
          </a:prstGeom>
          <a:solidFill>
            <a:srgbClr val="8E3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2600" y="1409699"/>
            <a:ext cx="4445000" cy="4889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캐릭터닷AI 420만 명, 같은 시기 챗GPT 600만 명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2024년 8월 구글과 27억 달러 규모 기술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사용권·핵심 인력 거래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구글·메타·오픈AI 등이 관심을 보였지만 회사 전체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인수는 없었음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1599" y="1270000"/>
            <a:ext cx="6527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7201A"/>
                </a:solidFill>
                <a:latin typeface="Noto Sans KR"/>
              </a:rPr>
              <a:t>미국 모바일 월간 활성 이용자 (2023년 8월) (만 명)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181599" y="1562100"/>
          <a:ext cx="6527800" cy="4546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181599" y="6172200"/>
            <a:ext cx="6527800" cy="177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7D897F"/>
                </a:solidFill>
                <a:latin typeface="Noto Sans KR"/>
              </a:rPr>
              <a:t>출처: AI타임스 2026-10-15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380999"/>
            <a:ext cx="112268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17201A"/>
                </a:solidFill>
                <a:latin typeface="Noto Sans KR"/>
              </a:rPr>
              <a:t>네 가지 압박이 겹쳐 인수가 막혔습니다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850899"/>
            <a:ext cx="11226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C685F"/>
                </a:solidFill>
                <a:latin typeface="Noto Sans KR"/>
              </a:rPr>
              <a:t>다이어그램 디자인 스킬로 정리한 인과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6553199"/>
            <a:ext cx="889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EXP-1015-04 · 캐릭터닷AI 파산이 AI 캐릭터 사업에 남긴 교훈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400" y="6553199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5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482600" y="1270000"/>
            <a:ext cx="4445000" cy="19050"/>
          </a:xfrm>
          <a:prstGeom prst="rect">
            <a:avLst/>
          </a:prstGeom>
          <a:solidFill>
            <a:srgbClr val="8E3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2600" y="1409699"/>
            <a:ext cx="4445000" cy="4889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청소년 안전 소송: 2024년 유족 소송 뒤 주정부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소송까지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저작권 분쟁: 디즈니 요구로 인기 캐릭터 챗봇 삭제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수익모델 부진: 구독·광고·꾸미기를 시도했지만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적자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예측할 수 없는 법적 책임이 가장 큰 걸림돌</a:t>
            </a:r>
          </a:p>
        </p:txBody>
      </p:sp>
      <p:pic>
        <p:nvPicPr>
          <p:cNvPr id="8" name="Picture 7" descr="diagram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181599" y="1270000"/>
            <a:ext cx="6527800" cy="4622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81599" y="5956300"/>
            <a:ext cx="65278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5C685F"/>
                </a:solidFill>
                <a:latin typeface="Noto Sans KR"/>
              </a:rPr>
              <a:t>본 도식은 기사에 나온 네 가지 압박이 인수 실패와 파산보호로 이어진 흐름을 정리한 모습입니다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1599" y="6172200"/>
            <a:ext cx="6527800" cy="177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7D897F"/>
                </a:solidFill>
                <a:latin typeface="Noto Sans KR"/>
              </a:rPr>
              <a:t>출처: AI타임스 기사 바탕, 람 작성 도식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380999"/>
            <a:ext cx="112268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17201A"/>
                </a:solidFill>
                <a:latin typeface="Noto Sans KR"/>
              </a:rPr>
              <a:t>적자보다 가늠할 수 없는 소송 위험이 더 컸습니다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850899"/>
            <a:ext cx="11226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C685F"/>
                </a:solidFill>
                <a:latin typeface="Noto Sans KR"/>
              </a:rPr>
              <a:t>알려진 2026년 8월 수치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6553199"/>
            <a:ext cx="889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EXP-1015-04 · 캐릭터닷AI 파산이 AI 캐릭터 사업에 남긴 교훈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400" y="6553199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6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482600" y="1270000"/>
            <a:ext cx="11226800" cy="19050"/>
          </a:xfrm>
          <a:prstGeom prst="rect">
            <a:avLst/>
          </a:prstGeom>
          <a:solidFill>
            <a:srgbClr val="8E3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2600" y="1409699"/>
            <a:ext cx="11226800" cy="466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월 매출 530만 달러 대비 영업손실 월 800만~900만 달러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적자는 투자·비용 절감으로 버틸 수 있음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하지만 앞으로의 소송 규모·배상액은 누구도 계산할 수 없음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디즈니가 챕터11을 요구한 것도 책임을 분리하기 위한 것으로 해석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6248400"/>
            <a:ext cx="11226800" cy="190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7D897F"/>
                </a:solidFill>
                <a:latin typeface="Noto Sans KR"/>
              </a:rPr>
              <a:t>출처: AI타임스 2026-10-15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380999"/>
            <a:ext cx="112268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17201A"/>
                </a:solidFill>
                <a:latin typeface="Noto Sans KR"/>
              </a:rPr>
              <a:t>캐릭터 챗 시장 자체가 끝난 것은 아닙니다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850899"/>
            <a:ext cx="11226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C685F"/>
                </a:solidFill>
                <a:latin typeface="Noto Sans KR"/>
              </a:rPr>
              <a:t>기사가 본 전망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6553199"/>
            <a:ext cx="889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EXP-1015-04 · 캐릭터닷AI 파산이 AI 캐릭터 사업에 남긴 교훈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400" y="6553199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7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482600" y="1270000"/>
            <a:ext cx="11226800" cy="19050"/>
          </a:xfrm>
          <a:prstGeom prst="rect">
            <a:avLst/>
          </a:prstGeom>
          <a:solidFill>
            <a:srgbClr val="8E3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2600" y="1409699"/>
            <a:ext cx="11226800" cy="4889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AI 캐릭터 챗은 아직 초기 단계의 새 엔터테인먼트 시장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국내에서도 캐릭터 챗이 시장을 만들고 있음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게임형 과금(캐릭터·의상·스토리 판매)과 웹툰·게임 결합이 유력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국내에서도 청소년 보호 문제가 제기되기 시작함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380999"/>
            <a:ext cx="112268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17201A"/>
                </a:solidFill>
                <a:latin typeface="Noto Sans KR"/>
              </a:rPr>
              <a:t>A4AI 콘텐츠·음성 AI 사업은 안전 설계를 먼저 갖춰야 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850899"/>
            <a:ext cx="11226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C685F"/>
                </a:solidFill>
                <a:latin typeface="Noto Sans KR"/>
              </a:rPr>
              <a:t>A4AI 사업에 비춰 본 판단 (추정 포함)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6553199"/>
            <a:ext cx="889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EXP-1015-04 · 캐릭터닷AI 파산이 AI 캐릭터 사업에 남긴 교훈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400" y="6553199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8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482600" y="1270000"/>
            <a:ext cx="11226800" cy="19050"/>
          </a:xfrm>
          <a:prstGeom prst="rect">
            <a:avLst/>
          </a:prstGeom>
          <a:solidFill>
            <a:srgbClr val="8E3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2600" y="1409699"/>
            <a:ext cx="11226800" cy="422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콘텐츠 IP·영상 AI, 한국어 음성(TTS) 캐릭터에 같은 위험이 있음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IP는 처음부터 권리자와 계약한 캐릭터만 쓰는 구조가 안전 (추정)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연령 확인·대화 기록·위험 대화 차단을 기본 기능으로 (추정)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B2C 직접 운영보다 기업·기관에 기술을 공급하는 쪽이 책임 부담이 작음 (추정)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2600" y="5816600"/>
            <a:ext cx="11226800" cy="533399"/>
          </a:xfrm>
          <a:prstGeom prst="roundRect">
            <a:avLst>
              <a:gd name="adj" fmla="val 14285"/>
            </a:avLst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816600"/>
            <a:ext cx="10795000" cy="5333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8E3427"/>
                </a:solidFill>
                <a:latin typeface="Noto Sans KR"/>
              </a:rPr>
              <a:t>핵심  </a:t>
            </a:r>
            <a:r>
              <a:rPr sz="1400" b="0">
                <a:solidFill>
                  <a:srgbClr val="17201A"/>
                </a:solidFill>
                <a:latin typeface="Noto Sans KR"/>
              </a:rPr>
              <a:t>캐릭터 AI를 한다면 기능보다 책임 구조를 먼저 설계해야 합니다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380999"/>
            <a:ext cx="112268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17201A"/>
                </a:solidFill>
                <a:latin typeface="Noto Sans KR"/>
              </a:rPr>
              <a:t>캐릭터 AI 직접 서비스는 보류하고 기술 공급형으로 검토합니다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850899"/>
            <a:ext cx="11226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C685F"/>
                </a:solidFill>
                <a:latin typeface="Noto Sans KR"/>
              </a:rPr>
              <a:t>판정: 보류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6553199"/>
            <a:ext cx="889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EXP-1015-04 · 캐릭터닷AI 파산이 AI 캐릭터 사업에 남긴 교훈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400" y="6553199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9 /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2600" y="1270000"/>
            <a:ext cx="1016000" cy="355599"/>
          </a:xfrm>
          <a:prstGeom prst="roundRect">
            <a:avLst>
              <a:gd name="adj" fmla="val 21428"/>
            </a:avLst>
          </a:prstGeom>
          <a:solidFill>
            <a:srgbClr val="8E3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KR"/>
              </a:rPr>
              <a:t>보류</a:t>
            </a:r>
          </a:p>
        </p:txBody>
      </p:sp>
      <p:sp>
        <p:nvSpPr>
          <p:cNvPr id="7" name="Rectangle 6"/>
          <p:cNvSpPr/>
          <p:nvPr/>
        </p:nvSpPr>
        <p:spPr>
          <a:xfrm>
            <a:off x="482600" y="1816099"/>
            <a:ext cx="5549899" cy="19050"/>
          </a:xfrm>
          <a:prstGeom prst="rect">
            <a:avLst/>
          </a:prstGeom>
          <a:solidFill>
            <a:srgbClr val="8E3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2600" y="1955800"/>
            <a:ext cx="5549899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800" b="1">
                <a:solidFill>
                  <a:srgbClr val="17201A"/>
                </a:solidFill>
                <a:latin typeface="Noto Sans KR"/>
              </a:rPr>
              <a:t>근거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2374899"/>
            <a:ext cx="5549899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법적 책임 리스크가 인수까지 막을 만큼 큼 (근거: 5번, 6번)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이용자를 모아도 수익으로 잇기 어려웠음 (근거: 4번, 6번)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시장 자체는 초기라 기회는 남아 있음 (근거: 7번)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9500" y="1816099"/>
            <a:ext cx="5549899" cy="19050"/>
          </a:xfrm>
          <a:prstGeom prst="rect">
            <a:avLst/>
          </a:prstGeom>
          <a:solidFill>
            <a:srgbClr val="8E3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9500" y="1955800"/>
            <a:ext cx="5549899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800" b="1">
                <a:solidFill>
                  <a:srgbClr val="17201A"/>
                </a:solidFill>
                <a:latin typeface="Noto Sans KR"/>
              </a:rPr>
              <a:t>다음 할 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9500" y="2374899"/>
            <a:ext cx="5549899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콘텐츠·음성 과제에 청소년 보호·IP 계약 점검표 만들기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캐릭터 AI는 B2B 기술 공급 모델로 사업성 검토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